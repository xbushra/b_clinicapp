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471" r:id="rId3"/>
    <p:sldId id="257" r:id="rId4"/>
    <p:sldId id="258" r:id="rId5"/>
    <p:sldId id="463" r:id="rId6"/>
    <p:sldId id="464" r:id="rId7"/>
    <p:sldId id="466" r:id="rId8"/>
    <p:sldId id="524" r:id="rId9"/>
    <p:sldId id="467" r:id="rId10"/>
    <p:sldId id="525" r:id="rId11"/>
    <p:sldId id="526" r:id="rId12"/>
    <p:sldId id="527" r:id="rId13"/>
    <p:sldId id="528" r:id="rId14"/>
    <p:sldId id="529" r:id="rId15"/>
    <p:sldId id="530" r:id="rId16"/>
    <p:sldId id="531" r:id="rId17"/>
    <p:sldId id="532" r:id="rId18"/>
    <p:sldId id="533" r:id="rId19"/>
    <p:sldId id="534" r:id="rId20"/>
    <p:sldId id="535" r:id="rId21"/>
    <p:sldId id="516" r:id="rId22"/>
    <p:sldId id="462" r:id="rId23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25"/>
      <p:bold r:id="rId26"/>
      <p:italic r:id="rId27"/>
      <p:boldItalic r:id="rId28"/>
    </p:embeddedFont>
    <p:embeddedFont>
      <p:font typeface="IBM Plex Sans Arabic" panose="020B0604020202020204" charset="-78"/>
      <p:regular r:id="rId29"/>
      <p:bold r:id="rId30"/>
    </p:embeddedFont>
    <p:embeddedFont>
      <p:font typeface="IBM Plex Sans Arabic Medium" panose="020B0604020202020204" charset="-78"/>
      <p:regular r:id="rId31"/>
      <p:bold r:id="rId32"/>
    </p:embeddedFont>
    <p:embeddedFont>
      <p:font typeface="IBM Plex Sans Arabic SemiBold" panose="020B0604020202020204" charset="-78"/>
      <p:regular r:id="rId33"/>
      <p:bold r:id="rId34"/>
    </p:embeddedFont>
    <p:embeddedFont>
      <p:font typeface="Tajawal" panose="020B0604020202020204" charset="-78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8" roundtripDataSignature="AMtx7misFEks1FpFDGX4WZY9pWrvcdEb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3198"/>
    <a:srgbClr val="58E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26455B-1D17-4907-B4C4-1A028100F92F}">
  <a:tblStyle styleId="{CD26455B-1D17-4907-B4C4-1A028100F92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tcBdr/>
        <a:fill>
          <a:solidFill>
            <a:srgbClr val="CDD8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8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3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24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238" Type="http://customschemas.google.com/relationships/presentationmetadata" Target="metadata"/><Relationship Id="rId24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24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omar-abdelkerim-6ba09495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>
                <a:hlinkClick r:id="rId3"/>
              </a:rPr>
              <a:t>(5) Omar Abdelkerim | LinkedIn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4F1C8083-AAA9-DEA0-512D-CB02ADF0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AA159C79-87FC-0430-4199-4692DE28C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0CC9F856-37DA-13DB-C3F7-3C73B0697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340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D27762C-FAE4-E389-3978-AA24A532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70C6948F-C27F-A6B0-2F25-3E93BA4917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>
            <a:extLst>
              <a:ext uri="{FF2B5EF4-FFF2-40B4-BE49-F238E27FC236}">
                <a16:creationId xmlns:a16="http://schemas.microsoft.com/office/drawing/2014/main" id="{C61201A5-2C90-730C-7A4B-77B7F47DB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712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28F8329-F6A9-C459-96DC-655463E5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C8EBACF2-B644-D631-C899-9CF59A23D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>
            <a:extLst>
              <a:ext uri="{FF2B5EF4-FFF2-40B4-BE49-F238E27FC236}">
                <a16:creationId xmlns:a16="http://schemas.microsoft.com/office/drawing/2014/main" id="{3C5E21B5-AA6D-80E8-7A78-014B41214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186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4" name="Google Shape;1494;p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1" name="Google Shape;11;p1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84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84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0" name="Google Shape;20;p18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1" name="Google Shape;21;p1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8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8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19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19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1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ify.com/asp-net-razor-pages-vs-mvc" TargetMode="External"/><Relationship Id="rId2" Type="http://schemas.openxmlformats.org/officeDocument/2006/relationships/hyperlink" Target="https://jonhilton.net/razor-pages-or-mvc-a-quick-comparison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>
            <a:spLocks noGrp="1"/>
          </p:cNvSpPr>
          <p:nvPr>
            <p:ph type="title"/>
          </p:nvPr>
        </p:nvSpPr>
        <p:spPr>
          <a:xfrm>
            <a:off x="776126" y="1620808"/>
            <a:ext cx="7591748" cy="190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ar-SA" sz="5400" b="1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دورة تطوير تطبيقات الويب باستخدام </a:t>
            </a:r>
            <a:r>
              <a:rPr lang="en-US" sz="5400" b="1" dirty="0" err="1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ASP.Net</a:t>
            </a:r>
            <a:endParaRPr dirty="0"/>
          </a:p>
        </p:txBody>
      </p:sp>
      <p:sp>
        <p:nvSpPr>
          <p:cNvPr id="43" name="Google Shape;43;p1"/>
          <p:cNvSpPr txBox="1"/>
          <p:nvPr/>
        </p:nvSpPr>
        <p:spPr>
          <a:xfrm>
            <a:off x="460563" y="4453053"/>
            <a:ext cx="7907311" cy="53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12000"/>
              <a:buFont typeface="IBM Plex Sans Arabic Medium"/>
              <a:buNone/>
            </a:pPr>
            <a:r>
              <a:rPr lang="ar-SA" sz="1800" b="1" i="0" u="none" strike="noStrike" cap="none" dirty="0">
                <a:solidFill>
                  <a:schemeClr val="lt1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يقدمها: عمر عبدالكريم المناخلي</a:t>
            </a:r>
            <a:endParaRPr sz="3600" b="1" i="0" u="none" strike="noStrike" cap="none" dirty="0">
              <a:solidFill>
                <a:schemeClr val="lt1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>
          <a:extLst>
            <a:ext uri="{FF2B5EF4-FFF2-40B4-BE49-F238E27FC236}">
              <a16:creationId xmlns:a16="http://schemas.microsoft.com/office/drawing/2014/main" id="{6EC5ABB6-111A-1E0B-F38D-23006CB1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>
            <a:extLst>
              <a:ext uri="{FF2B5EF4-FFF2-40B4-BE49-F238E27FC236}">
                <a16:creationId xmlns:a16="http://schemas.microsoft.com/office/drawing/2014/main" id="{65B683C7-DB3C-CEC2-4554-1E34D1044E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537" y="2022170"/>
            <a:ext cx="8474927" cy="10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5400" b="1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Unit 2: ASP.net MVC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3084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91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91"/>
          <p:cNvSpPr txBox="1">
            <a:spLocks noGrp="1"/>
          </p:cNvSpPr>
          <p:nvPr>
            <p:ph type="body" idx="1"/>
          </p:nvPr>
        </p:nvSpPr>
        <p:spPr>
          <a:xfrm>
            <a:off x="0" y="4280"/>
            <a:ext cx="4735551" cy="5262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dirty="0">
                <a:solidFill>
                  <a:srgbClr val="7030A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Outlines:</a:t>
            </a: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>
                <a:latin typeface="IBM Plex Sans"/>
                <a:ea typeface="IBM Plex Sans"/>
                <a:cs typeface="IBM Plex Sans"/>
                <a:sym typeface="IBM Plex Sans"/>
              </a:rPr>
              <a:t>MVC vs Razor Pages vs Blazor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Model-View-Controller Pattern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Creating Controllers and Actions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 err="1"/>
              <a:t>ViewModels</a:t>
            </a:r>
            <a:r>
              <a:rPr lang="en-US" dirty="0"/>
              <a:t> vs Domain Models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Razor Syntax	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Layout Pages &amp; Partial Views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Passing Data to Views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Route Parameters and Query Strings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Form Handling and Model Binding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dirty="0"/>
          </a:p>
        </p:txBody>
      </p:sp>
      <p:sp>
        <p:nvSpPr>
          <p:cNvPr id="2" name="Google Shape;49;p191">
            <a:extLst>
              <a:ext uri="{FF2B5EF4-FFF2-40B4-BE49-F238E27FC236}">
                <a16:creationId xmlns:a16="http://schemas.microsoft.com/office/drawing/2014/main" id="{CD36394D-B017-52E0-FF3A-8A7266427F52}"/>
              </a:ext>
            </a:extLst>
          </p:cNvPr>
          <p:cNvSpPr txBox="1">
            <a:spLocks/>
          </p:cNvSpPr>
          <p:nvPr/>
        </p:nvSpPr>
        <p:spPr>
          <a:xfrm>
            <a:off x="4664930" y="512111"/>
            <a:ext cx="4735551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228600" indent="0" algn="just" rtl="0">
              <a:lnSpc>
                <a:spcPct val="150000"/>
              </a:lnSpc>
              <a:buFont typeface="IBM Plex Sans Arabic"/>
              <a:buNone/>
            </a:pPr>
            <a:endParaRPr lang="en-US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rtl="0">
              <a:lnSpc>
                <a:spcPct val="150000"/>
              </a:lnSpc>
              <a:buFont typeface="+mj-lt"/>
              <a:buAutoNum type="arabicPeriod" startAt="10"/>
            </a:pPr>
            <a:r>
              <a:rPr lang="en-US" dirty="0"/>
              <a:t> Client-side &amp; Server-side Validation</a:t>
            </a:r>
          </a:p>
          <a:p>
            <a:pPr rtl="0">
              <a:lnSpc>
                <a:spcPct val="150000"/>
              </a:lnSpc>
              <a:buFont typeface="+mj-lt"/>
              <a:buAutoNum type="arabicPeriod" startAt="10"/>
            </a:pPr>
            <a:r>
              <a:rPr lang="en-US" dirty="0"/>
              <a:t> Dependency Injection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1109272" y="1320177"/>
            <a:ext cx="692545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EEEDED"/>
                </a:solidFill>
              </a:rPr>
              <a:t>MVC vs Razor Pages vs Blazor</a:t>
            </a:r>
            <a:endParaRPr sz="4800" b="1" dirty="0">
              <a:solidFill>
                <a:srgbClr val="EEEDE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B016-6D77-F350-ACDB-5F6C29021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Overview of Frameworks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FE2CF6-CA14-76F3-41B5-F6120908B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399542"/>
              </p:ext>
            </p:extLst>
          </p:nvPr>
        </p:nvGraphicFramePr>
        <p:xfrm>
          <a:off x="311150" y="1931035"/>
          <a:ext cx="8521701" cy="20116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126434933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08038994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4871866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Framework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Ideal For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2549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MVC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Classic separation: Controller →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Complex apps, APIs, clear separation of concerns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92853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Razor Pages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Page-centric model with CSHTML + PageModel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Simpler page-level CRUD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4886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Blazor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C#-based UI components, SPA 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Interactive, real‑time UIs or enhanced 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182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64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2525D-FC23-B2FB-DD5F-69B9FEE5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082A-515E-D7D9-3C14-6A44F55E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Typical Folder Layouts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88AEA-E9D7-6D53-0E8F-F71E55B5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22" y="1072925"/>
            <a:ext cx="2267415" cy="4033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EF7ED-D271-A60A-F934-0779723F6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190" y="1072924"/>
            <a:ext cx="2349589" cy="4000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43998E-67CC-7E8B-4E9B-C912BA4AB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032" y="1072924"/>
            <a:ext cx="2028007" cy="396411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79DA2-CF3A-79A9-A52F-65012870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7020" y="902969"/>
            <a:ext cx="1011044" cy="710241"/>
          </a:xfrm>
        </p:spPr>
        <p:txBody>
          <a:bodyPr/>
          <a:lstStyle/>
          <a:p>
            <a:pPr marL="114300" indent="0" rtl="0">
              <a:spcBef>
                <a:spcPts val="1200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MVC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91A10-E742-7A72-1395-589675AFF763}"/>
              </a:ext>
            </a:extLst>
          </p:cNvPr>
          <p:cNvSpPr txBox="1">
            <a:spLocks/>
          </p:cNvSpPr>
          <p:nvPr/>
        </p:nvSpPr>
        <p:spPr>
          <a:xfrm>
            <a:off x="4646286" y="902968"/>
            <a:ext cx="1011044" cy="71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spcBef>
                <a:spcPts val="1200"/>
              </a:spcBef>
              <a:buFont typeface="IBM Plex Sans Arabic"/>
              <a:buNone/>
            </a:pPr>
            <a:r>
              <a:rPr lang="en-US" dirty="0">
                <a:solidFill>
                  <a:schemeClr val="bg1"/>
                </a:solidFill>
              </a:rPr>
              <a:t>Pages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5353CDD-EA89-533A-830B-7E85395FF0D0}"/>
              </a:ext>
            </a:extLst>
          </p:cNvPr>
          <p:cNvSpPr txBox="1">
            <a:spLocks/>
          </p:cNvSpPr>
          <p:nvPr/>
        </p:nvSpPr>
        <p:spPr>
          <a:xfrm>
            <a:off x="7136980" y="902967"/>
            <a:ext cx="1011044" cy="71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424242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pPr marL="114300" indent="0" rtl="0">
              <a:spcBef>
                <a:spcPts val="1200"/>
              </a:spcBef>
              <a:buFont typeface="IBM Plex Sans Arabic"/>
              <a:buNone/>
            </a:pPr>
            <a:r>
              <a:rPr lang="en-US" dirty="0">
                <a:solidFill>
                  <a:schemeClr val="bg1"/>
                </a:solidFill>
              </a:rPr>
              <a:t>Blazor</a:t>
            </a:r>
          </a:p>
        </p:txBody>
      </p:sp>
    </p:spTree>
    <p:extLst>
      <p:ext uri="{BB962C8B-B14F-4D97-AF65-F5344CB8AC3E}">
        <p14:creationId xmlns:p14="http://schemas.microsoft.com/office/powerpoint/2010/main" val="422082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6E19-CC1D-68E4-2276-E823D6C8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1FCA-9A81-065F-6640-6D8A2EA0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Request Flow – MVC</a:t>
            </a:r>
          </a:p>
        </p:txBody>
      </p:sp>
      <p:pic>
        <p:nvPicPr>
          <p:cNvPr id="2050" name="Picture 2" descr="MVC vs Razor Pages - A quick comparison">
            <a:extLst>
              <a:ext uri="{FF2B5EF4-FFF2-40B4-BE49-F238E27FC236}">
                <a16:creationId xmlns:a16="http://schemas.microsoft.com/office/drawing/2014/main" id="{655404EE-0791-CC2B-A5CA-EDA91D0F0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68" y="1055648"/>
            <a:ext cx="7653064" cy="380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705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EA9C-CDFA-3BFC-081A-98D1B6725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983E3-EFF2-03A6-D638-946DE123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Razor Pages Flow</a:t>
            </a:r>
          </a:p>
        </p:txBody>
      </p:sp>
      <p:pic>
        <p:nvPicPr>
          <p:cNvPr id="3074" name="Picture 2" descr="MVC vs Razor Pages - A quick comparison">
            <a:extLst>
              <a:ext uri="{FF2B5EF4-FFF2-40B4-BE49-F238E27FC236}">
                <a16:creationId xmlns:a16="http://schemas.microsoft.com/office/drawing/2014/main" id="{3B49BEB6-2F65-8B3C-9D6D-676C65C47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52" y="1072925"/>
            <a:ext cx="7859867" cy="390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86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AE91-327D-936F-A2C7-191FF2E9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5D61-7199-FD2B-B0EF-AC26F3A6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Pros &amp; 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7D676-5752-3709-BE5B-C1DFD5EA4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520349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MVC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👍 Mature, flexible, great for complex scenarios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👎 Can lead to large controllers</a:t>
            </a:r>
          </a:p>
          <a:p>
            <a:pPr rtl="0">
              <a:lnSpc>
                <a:spcPct val="150000"/>
              </a:lnSpc>
            </a:pPr>
            <a:r>
              <a:rPr lang="en-US" dirty="0"/>
              <a:t>Razor Pages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👍 Intuitive, low magic, focused on single-page responsibility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👎 Less suited for multi-view or API-driven logic</a:t>
            </a:r>
          </a:p>
          <a:p>
            <a:pPr rtl="0">
              <a:lnSpc>
                <a:spcPct val="150000"/>
              </a:lnSpc>
            </a:pPr>
            <a:r>
              <a:rPr lang="en-US" dirty="0"/>
              <a:t>Blazor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👍 Full C# in the browser, ideal for interactive apps</a:t>
            </a:r>
          </a:p>
          <a:p>
            <a:pPr lvl="1" rtl="0">
              <a:lnSpc>
                <a:spcPct val="150000"/>
              </a:lnSpc>
            </a:pPr>
            <a:r>
              <a:rPr lang="en-US" dirty="0"/>
              <a:t>👎 SEO &amp; routing issues (especially </a:t>
            </a:r>
            <a:r>
              <a:rPr lang="en-US" dirty="0" err="1"/>
              <a:t>WebAssembly</a:t>
            </a:r>
            <a:r>
              <a:rPr lang="en-US" dirty="0"/>
              <a:t>); newer tech</a:t>
            </a:r>
          </a:p>
        </p:txBody>
      </p:sp>
    </p:spTree>
    <p:extLst>
      <p:ext uri="{BB962C8B-B14F-4D97-AF65-F5344CB8AC3E}">
        <p14:creationId xmlns:p14="http://schemas.microsoft.com/office/powerpoint/2010/main" val="46332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A86B048-9D69-6E83-B8A3-BB2ABB4F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>
            <a:extLst>
              <a:ext uri="{FF2B5EF4-FFF2-40B4-BE49-F238E27FC236}">
                <a16:creationId xmlns:a16="http://schemas.microsoft.com/office/drawing/2014/main" id="{D6692D33-EA25-FB28-BEF2-44B372AD74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9272" y="1320177"/>
            <a:ext cx="692545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EEEDED"/>
                </a:solidFill>
              </a:rPr>
              <a:t>MVC Pattern</a:t>
            </a:r>
            <a:endParaRPr sz="4800" b="1" dirty="0">
              <a:solidFill>
                <a:srgbClr val="EEED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473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1B7B-5F0D-0143-BDF0-D6078E3B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94AB-453B-8009-ED64-413FCE5D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is MVC?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44A3C-2391-7CB8-D934-1AF0AF9AD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520349"/>
          </a:xfrm>
        </p:spPr>
        <p:txBody>
          <a:bodyPr>
            <a:normAutofit/>
          </a:bodyPr>
          <a:lstStyle/>
          <a:p>
            <a:pPr rtl="0"/>
            <a:r>
              <a:rPr lang="en-US" b="1" dirty="0"/>
              <a:t>MVC</a:t>
            </a:r>
            <a:r>
              <a:rPr lang="en-US" dirty="0"/>
              <a:t> stands for Model‑View‑Controller</a:t>
            </a:r>
          </a:p>
          <a:p>
            <a:pPr lvl="1" rtl="0">
              <a:lnSpc>
                <a:spcPct val="150000"/>
              </a:lnSpc>
            </a:pPr>
            <a:r>
              <a:rPr lang="en-US" b="1" dirty="0"/>
              <a:t>Model</a:t>
            </a:r>
            <a:r>
              <a:rPr lang="en-US" dirty="0"/>
              <a:t>: Handles data and business logic (e.g., Patient class).</a:t>
            </a:r>
          </a:p>
          <a:p>
            <a:pPr lvl="1" rtl="0">
              <a:lnSpc>
                <a:spcPct val="150000"/>
              </a:lnSpc>
            </a:pPr>
            <a:r>
              <a:rPr lang="en-US" b="1" dirty="0"/>
              <a:t>View</a:t>
            </a:r>
            <a:r>
              <a:rPr lang="en-US" dirty="0"/>
              <a:t>: Displays UI, written in Razor (.</a:t>
            </a:r>
            <a:r>
              <a:rPr lang="en-US" dirty="0" err="1"/>
              <a:t>cshtml</a:t>
            </a:r>
            <a:r>
              <a:rPr lang="en-US" dirty="0"/>
              <a:t>).</a:t>
            </a:r>
          </a:p>
          <a:p>
            <a:pPr lvl="1" rtl="0">
              <a:lnSpc>
                <a:spcPct val="150000"/>
              </a:lnSpc>
            </a:pPr>
            <a:r>
              <a:rPr lang="en-US" b="1" dirty="0"/>
              <a:t>Controller</a:t>
            </a:r>
            <a:r>
              <a:rPr lang="en-US" dirty="0"/>
              <a:t>: Responds to user actions and coordinates Model &amp; View.</a:t>
            </a:r>
          </a:p>
          <a:p>
            <a:pPr rtl="0">
              <a:lnSpc>
                <a:spcPct val="150000"/>
              </a:lnSpc>
            </a:pPr>
            <a:endParaRPr lang="en-US" dirty="0"/>
          </a:p>
          <a:p>
            <a:pPr rtl="0">
              <a:lnSpc>
                <a:spcPct val="150000"/>
              </a:lnSpc>
            </a:pPr>
            <a:r>
              <a:rPr lang="en-US" dirty="0"/>
              <a:t>MVC pattern helps maintain </a:t>
            </a:r>
            <a:r>
              <a:rPr lang="en-US" b="1" dirty="0"/>
              <a:t>organized, scalable, and testable</a:t>
            </a:r>
            <a:r>
              <a:rPr lang="en-US" dirty="0"/>
              <a:t> code.</a:t>
            </a:r>
          </a:p>
        </p:txBody>
      </p:sp>
    </p:spTree>
    <p:extLst>
      <p:ext uri="{BB962C8B-B14F-4D97-AF65-F5344CB8AC3E}">
        <p14:creationId xmlns:p14="http://schemas.microsoft.com/office/powerpoint/2010/main" val="155789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EA2F9-919F-C21B-63F5-D9FE03EF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B786-FD3C-1411-DB3F-DB5C69DE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MVC Component Responsibilities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D1AEC4-15E0-7B23-17F3-A80F9A090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584815"/>
              </p:ext>
            </p:extLst>
          </p:nvPr>
        </p:nvGraphicFramePr>
        <p:xfrm>
          <a:off x="311150" y="2037715"/>
          <a:ext cx="8521701" cy="195072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94431723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88993331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79696991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Clinic Example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5869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Model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 &amp;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Patient.cs defines patient properties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365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Controller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Request handler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PatientController.cs processes CRUD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3295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View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UI rendering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Index.cshtml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Create.cshtml</a:t>
                      </a:r>
                      <a:r>
                        <a:rPr lang="en-US" sz="1400" dirty="0"/>
                        <a:t>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5916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499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FFDC8-3236-3637-515A-AE8C5AA1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50A1-A398-8183-94F8-FCEB68F1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MVC Request Flow</a:t>
            </a:r>
          </a:p>
        </p:txBody>
      </p:sp>
      <p:pic>
        <p:nvPicPr>
          <p:cNvPr id="2050" name="Picture 2" descr="asp-net-routing">
            <a:extLst>
              <a:ext uri="{FF2B5EF4-FFF2-40B4-BE49-F238E27FC236}">
                <a16:creationId xmlns:a16="http://schemas.microsoft.com/office/drawing/2014/main" id="{3FD8F0BF-135E-8C24-BA1E-CE0279EB6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1030092"/>
            <a:ext cx="657225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88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30012-7D43-6722-E786-0DC82C2A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7BE8-8D72-5AE6-6022-A2E859902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MVC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048FD-A09B-FEA4-46B7-23BAD3196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520349"/>
          </a:xfrm>
        </p:spPr>
        <p:txBody>
          <a:bodyPr>
            <a:normAutofit/>
          </a:bodyPr>
          <a:lstStyle/>
          <a:p>
            <a:pPr rtl="0">
              <a:lnSpc>
                <a:spcPct val="200000"/>
              </a:lnSpc>
            </a:pPr>
            <a:r>
              <a:rPr lang="en-US" dirty="0"/>
              <a:t>Keep controllers thin; delegate logic to services or the model layer</a:t>
            </a:r>
          </a:p>
          <a:p>
            <a:pPr rtl="0">
              <a:lnSpc>
                <a:spcPct val="200000"/>
              </a:lnSpc>
            </a:pPr>
            <a:r>
              <a:rPr lang="en-US" dirty="0"/>
              <a:t>Follow clear naming conventions: </a:t>
            </a:r>
            <a:r>
              <a:rPr lang="en-US" dirty="0" err="1"/>
              <a:t>PatientController</a:t>
            </a:r>
            <a:r>
              <a:rPr lang="en-US" dirty="0"/>
              <a:t>, corresponding Views</a:t>
            </a:r>
          </a:p>
          <a:p>
            <a:pPr rtl="0">
              <a:lnSpc>
                <a:spcPct val="200000"/>
              </a:lnSpc>
            </a:pPr>
            <a:r>
              <a:rPr lang="en-US" dirty="0"/>
              <a:t>Keep Views limited to presentation logic</a:t>
            </a:r>
          </a:p>
          <a:p>
            <a:pPr rtl="0">
              <a:lnSpc>
                <a:spcPct val="200000"/>
              </a:lnSpc>
            </a:pPr>
            <a:r>
              <a:rPr lang="en-US" dirty="0"/>
              <a:t>Avoid database access or business logic in Views themselves</a:t>
            </a:r>
          </a:p>
        </p:txBody>
      </p:sp>
    </p:spTree>
    <p:extLst>
      <p:ext uri="{BB962C8B-B14F-4D97-AF65-F5344CB8AC3E}">
        <p14:creationId xmlns:p14="http://schemas.microsoft.com/office/powerpoint/2010/main" val="2426012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CCCC572-B752-55D7-A6F2-46CDFC99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>
            <a:extLst>
              <a:ext uri="{FF2B5EF4-FFF2-40B4-BE49-F238E27FC236}">
                <a16:creationId xmlns:a16="http://schemas.microsoft.com/office/drawing/2014/main" id="{EF82749E-1FE4-C82C-3543-C414333652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9272" y="1320177"/>
            <a:ext cx="6925455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800" b="1" dirty="0">
                <a:solidFill>
                  <a:srgbClr val="EEEDED"/>
                </a:solidFill>
              </a:rPr>
              <a:t>Creating Controllers and Actions</a:t>
            </a:r>
            <a:endParaRPr sz="4800" b="1" dirty="0">
              <a:solidFill>
                <a:srgbClr val="EEED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393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C46D-7419-08F2-680D-EC09144B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D954-B679-A6A3-9AD8-ADE33628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What is a Controller?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4E18C-2066-F8A9-2847-40FA7A31D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159727"/>
            <a:ext cx="8221855" cy="3694772"/>
          </a:xfrm>
        </p:spPr>
        <p:txBody>
          <a:bodyPr>
            <a:normAutofit/>
          </a:bodyPr>
          <a:lstStyle/>
          <a:p>
            <a:pPr rtl="0">
              <a:lnSpc>
                <a:spcPct val="200000"/>
              </a:lnSpc>
            </a:pPr>
            <a:r>
              <a:rPr lang="en-US" dirty="0"/>
              <a:t>A Controller is a C# class that: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Handles HTTP requests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Interacts with the Model</a:t>
            </a:r>
          </a:p>
          <a:p>
            <a:pPr lvl="1" rtl="0">
              <a:lnSpc>
                <a:spcPct val="200000"/>
              </a:lnSpc>
            </a:pPr>
            <a:r>
              <a:rPr lang="en-US" dirty="0"/>
              <a:t>Returns a View or JSON result</a:t>
            </a:r>
          </a:p>
          <a:p>
            <a:pPr rtl="0">
              <a:lnSpc>
                <a:spcPct val="200000"/>
              </a:lnSpc>
            </a:pPr>
            <a:endParaRPr lang="en-US" dirty="0"/>
          </a:p>
          <a:p>
            <a:pPr rtl="0">
              <a:lnSpc>
                <a:spcPct val="200000"/>
              </a:lnSpc>
            </a:pPr>
            <a:endParaRPr lang="en-US" dirty="0"/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🧠 Each public method =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751DE-4D6A-367E-0E92-E0470627B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094" y="3205646"/>
            <a:ext cx="4061812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97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4CE7-51A0-AFF3-02ED-4F851F0B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2E60-875C-C702-9F5C-F74DF5FA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 err="1"/>
              <a:t>PatientController</a:t>
            </a:r>
            <a:r>
              <a:rPr lang="en-US" dirty="0"/>
              <a:t> – Example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8B4BE-259C-6130-1FC0-C9EF12EB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159727"/>
            <a:ext cx="8221855" cy="3694772"/>
          </a:xfrm>
        </p:spPr>
        <p:txBody>
          <a:bodyPr>
            <a:normAutofit/>
          </a:bodyPr>
          <a:lstStyle/>
          <a:p>
            <a:pPr marL="114300" indent="0" rtl="0">
              <a:lnSpc>
                <a:spcPct val="200000"/>
              </a:lnSpc>
              <a:buNone/>
            </a:pPr>
            <a:r>
              <a:rPr lang="fr-FR" dirty="0"/>
              <a:t>📁 Location: </a:t>
            </a:r>
            <a:r>
              <a:rPr lang="fr-FR" dirty="0" err="1"/>
              <a:t>Controllers</a:t>
            </a:r>
            <a:r>
              <a:rPr lang="fr-FR" dirty="0"/>
              <a:t>/</a:t>
            </a:r>
            <a:r>
              <a:rPr lang="fr-FR" dirty="0" err="1"/>
              <a:t>PatientController.cs</a:t>
            </a:r>
            <a:endParaRPr lang="en-US" dirty="0"/>
          </a:p>
          <a:p>
            <a:pPr marL="114300" indent="0" rtl="0">
              <a:lnSpc>
                <a:spcPct val="200000"/>
              </a:lnSpc>
              <a:buNone/>
            </a:pPr>
            <a:endParaRPr lang="en-US" dirty="0"/>
          </a:p>
          <a:p>
            <a:pPr marL="114300" indent="0" rtl="0">
              <a:lnSpc>
                <a:spcPct val="200000"/>
              </a:lnSpc>
              <a:buNone/>
            </a:pPr>
            <a:endParaRPr lang="en-US" dirty="0"/>
          </a:p>
          <a:p>
            <a:pPr marL="114300" indent="0" rtl="0">
              <a:lnSpc>
                <a:spcPct val="200000"/>
              </a:lnSpc>
              <a:buNone/>
            </a:pPr>
            <a:endParaRPr lang="en-US" dirty="0"/>
          </a:p>
          <a:p>
            <a:pPr rtl="0">
              <a:lnSpc>
                <a:spcPct val="200000"/>
              </a:lnSpc>
            </a:pPr>
            <a:endParaRPr lang="en-US" dirty="0"/>
          </a:p>
          <a:p>
            <a:pPr marL="114300" indent="0" rtl="0">
              <a:lnSpc>
                <a:spcPct val="200000"/>
              </a:lnSpc>
              <a:buNone/>
            </a:pPr>
            <a:r>
              <a:rPr lang="en-US" dirty="0"/>
              <a:t>📝 Controller name + Action name → default routing.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4B641-20A0-E734-A026-3112293D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406" y="1945150"/>
            <a:ext cx="5159187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13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5958-CA34-0455-7403-4DA73112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5F3F-C64A-0CFF-E7DE-E35E2753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Action Methods and Routing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BB5A3F-516B-CE14-A041-2A36F5D2D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364597"/>
              </p:ext>
            </p:extLst>
          </p:nvPr>
        </p:nvGraphicFramePr>
        <p:xfrm>
          <a:off x="311150" y="1622890"/>
          <a:ext cx="8521701" cy="22860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239783328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42614843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409561057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URL Path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Controller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 Method</a:t>
                      </a:r>
                    </a:p>
                  </a:txBody>
                  <a:tcPr anchor="ctr">
                    <a:solidFill>
                      <a:srgbClr val="5431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932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/Patient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PatientController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Index()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8193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/Patient/Create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PatientController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Create()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1059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/Patient/Edit/5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PatientController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Edit(int 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0301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/Patient/Delete/5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PatientController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Delete(int 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2616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2CBDAC-AE9A-7572-EA99-7D1BB4BE4C9B}"/>
              </a:ext>
            </a:extLst>
          </p:cNvPr>
          <p:cNvSpPr txBox="1"/>
          <p:nvPr/>
        </p:nvSpPr>
        <p:spPr>
          <a:xfrm>
            <a:off x="505522" y="406880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📌 By default: /</a:t>
            </a:r>
            <a:r>
              <a:rPr lang="en-US" dirty="0" err="1"/>
              <a:t>ControllerName</a:t>
            </a:r>
            <a:r>
              <a:rPr lang="en-US" dirty="0"/>
              <a:t>/</a:t>
            </a:r>
            <a:r>
              <a:rPr lang="en-US" dirty="0" err="1"/>
              <a:t>ActionName</a:t>
            </a:r>
            <a:r>
              <a:rPr lang="en-US" dirty="0"/>
              <a:t>/{id?}</a:t>
            </a:r>
          </a:p>
        </p:txBody>
      </p:sp>
    </p:spTree>
    <p:extLst>
      <p:ext uri="{BB962C8B-B14F-4D97-AF65-F5344CB8AC3E}">
        <p14:creationId xmlns:p14="http://schemas.microsoft.com/office/powerpoint/2010/main" val="3069900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D5E6-7F1C-E2AC-AC17-9020F1E1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3008E-81B6-D0B2-CDA7-76C1720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Creating a Basic Action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D38C2-ED30-51D1-E3C9-AFA0656B0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159727"/>
            <a:ext cx="8221855" cy="3694772"/>
          </a:xfrm>
        </p:spPr>
        <p:txBody>
          <a:bodyPr>
            <a:normAutofit/>
          </a:bodyPr>
          <a:lstStyle/>
          <a:p>
            <a:pPr marL="114300" indent="0" rtl="0">
              <a:lnSpc>
                <a:spcPct val="100000"/>
              </a:lnSpc>
              <a:buNone/>
            </a:pPr>
            <a:r>
              <a:rPr lang="en-US" dirty="0"/>
              <a:t>🔧 Display a patient registration form:</a:t>
            </a:r>
          </a:p>
          <a:p>
            <a:pPr marL="114300" indent="0" rtl="0">
              <a:lnSpc>
                <a:spcPct val="100000"/>
              </a:lnSpc>
              <a:buNone/>
            </a:pPr>
            <a:endParaRPr lang="en-US" dirty="0"/>
          </a:p>
          <a:p>
            <a:pPr rtl="0">
              <a:lnSpc>
                <a:spcPct val="100000"/>
              </a:lnSpc>
            </a:pPr>
            <a:endParaRPr lang="en-US" dirty="0"/>
          </a:p>
          <a:p>
            <a:pPr rtl="0">
              <a:lnSpc>
                <a:spcPct val="100000"/>
              </a:lnSpc>
            </a:pPr>
            <a:endParaRPr lang="en-US" dirty="0"/>
          </a:p>
          <a:p>
            <a:pPr rtl="0">
              <a:lnSpc>
                <a:spcPct val="100000"/>
              </a:lnSpc>
            </a:pPr>
            <a:endParaRPr lang="en-US" dirty="0"/>
          </a:p>
          <a:p>
            <a:pPr marL="114300" indent="0" rtl="0">
              <a:lnSpc>
                <a:spcPct val="100000"/>
              </a:lnSpc>
              <a:buNone/>
            </a:pPr>
            <a:r>
              <a:rPr lang="en-US" dirty="0"/>
              <a:t>📨 Handle form submission: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86DE3-94FD-E1B5-1FE6-169D1EB67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41" y="1570703"/>
            <a:ext cx="5502117" cy="1005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74DE2-ED0D-C4AC-5DB8-CE0C19E40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973" y="2684275"/>
            <a:ext cx="5258256" cy="23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25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2ADB-25F9-D5DA-6CB0-0E3B377E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88FC-8978-9B13-C9C9-D37121AA5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Controller and Views Relationship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71FE3-0132-1625-F115-F0BE3ACA3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159727"/>
            <a:ext cx="8221855" cy="3694772"/>
          </a:xfrm>
        </p:spPr>
        <p:txBody>
          <a:bodyPr>
            <a:normAutofit/>
          </a:bodyPr>
          <a:lstStyle/>
          <a:p>
            <a:pPr marL="114300" indent="0" rtl="0">
              <a:lnSpc>
                <a:spcPct val="150000"/>
              </a:lnSpc>
              <a:buNone/>
            </a:pPr>
            <a:endParaRPr lang="en-US" dirty="0"/>
          </a:p>
          <a:p>
            <a:pPr marL="114300" indent="0" rtl="0">
              <a:lnSpc>
                <a:spcPct val="150000"/>
              </a:lnSpc>
              <a:buNone/>
            </a:pPr>
            <a:endParaRPr lang="en-US" dirty="0"/>
          </a:p>
          <a:p>
            <a:pPr marL="114300" indent="0" rtl="0">
              <a:lnSpc>
                <a:spcPct val="150000"/>
              </a:lnSpc>
              <a:buNone/>
            </a:pPr>
            <a:endParaRPr lang="en-US" dirty="0"/>
          </a:p>
          <a:p>
            <a:pPr marL="114300" indent="0" rtl="0">
              <a:lnSpc>
                <a:spcPct val="150000"/>
              </a:lnSpc>
              <a:buNone/>
            </a:pPr>
            <a:endParaRPr lang="en-US" dirty="0"/>
          </a:p>
          <a:p>
            <a:pPr marL="114300" indent="0" rtl="0">
              <a:lnSpc>
                <a:spcPct val="150000"/>
              </a:lnSpc>
              <a:buNone/>
            </a:pPr>
            <a:endParaRPr lang="en-US" dirty="0"/>
          </a:p>
          <a:p>
            <a:pPr marL="114300" indent="0" rtl="0">
              <a:lnSpc>
                <a:spcPct val="150000"/>
              </a:lnSpc>
              <a:buNone/>
            </a:pPr>
            <a:endParaRPr lang="en-US" dirty="0"/>
          </a:p>
          <a:p>
            <a:pPr marL="114300" indent="0" rtl="0">
              <a:lnSpc>
                <a:spcPct val="150000"/>
              </a:lnSpc>
              <a:buNone/>
            </a:pPr>
            <a:r>
              <a:rPr lang="fr-FR" dirty="0"/>
              <a:t>📁</a:t>
            </a:r>
            <a:r>
              <a:rPr lang="en-US" dirty="0"/>
              <a:t> Folders should match Controller name</a:t>
            </a:r>
          </a:p>
          <a:p>
            <a:pPr marL="114300" indent="0" rtl="0">
              <a:lnSpc>
                <a:spcPct val="150000"/>
              </a:lnSpc>
              <a:buNone/>
            </a:pPr>
            <a:r>
              <a:rPr lang="en-US" dirty="0"/>
              <a:t>📄 View file names match Action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3A9A4-7B04-8274-1383-EE161638E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13" y="1539150"/>
            <a:ext cx="5227773" cy="20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23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9899-61DE-57F2-D6DA-1BBDA38B8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10A6E-F88F-8486-ED05-D67923ADD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22" y="445025"/>
            <a:ext cx="8281328" cy="6279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FD1A3-AA0F-E1AB-4EAD-78BC8A30B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95" y="1334149"/>
            <a:ext cx="8221855" cy="3096601"/>
          </a:xfrm>
        </p:spPr>
        <p:txBody>
          <a:bodyPr>
            <a:normAutofit/>
          </a:bodyPr>
          <a:lstStyle/>
          <a:p>
            <a:pPr rtl="0">
              <a:lnSpc>
                <a:spcPct val="100000"/>
              </a:lnSpc>
              <a:buSzPct val="100000"/>
            </a:pPr>
            <a:r>
              <a:rPr lang="en-US" sz="1200" dirty="0">
                <a:hlinkClick r:id="rId2"/>
              </a:rPr>
              <a:t>https://jonhilton.net/razor-pages-or-mvc-a-quick-comparison/</a:t>
            </a:r>
            <a:endParaRPr lang="en-US" sz="1200" dirty="0"/>
          </a:p>
          <a:p>
            <a:pPr rtl="0">
              <a:lnSpc>
                <a:spcPct val="100000"/>
              </a:lnSpc>
              <a:buSzPct val="100000"/>
            </a:pPr>
            <a:r>
              <a:rPr lang="en-US" sz="1200" dirty="0">
                <a:hlinkClick r:id="rId3"/>
              </a:rPr>
              <a:t>https://stackify.com/asp-net-razor-pages-vs-mvc</a:t>
            </a:r>
            <a:endParaRPr lang="en-US" sz="1200" dirty="0"/>
          </a:p>
          <a:p>
            <a:pPr rtl="0">
              <a:lnSpc>
                <a:spcPct val="100000"/>
              </a:lnSpc>
              <a:buSzPct val="100000"/>
            </a:pPr>
            <a:endParaRPr lang="en-US" sz="1200" dirty="0"/>
          </a:p>
          <a:p>
            <a:pPr rtl="0"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81950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8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</a:t>
            </a:r>
            <a:r>
              <a:rPr lang="en-US" sz="4000" b="1" dirty="0" err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رًا</a:t>
            </a:r>
            <a:r>
              <a:rPr lang="en-US" sz="400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4000" b="1" dirty="0" err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لك</a:t>
            </a:r>
            <a:r>
              <a:rPr lang="en-US" sz="4000" b="1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ــــــم</a:t>
            </a:r>
            <a:endParaRPr sz="4000" b="1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97" name="Google Shape;1497;p18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 dirty="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13330</TotalTime>
  <Words>523</Words>
  <Application>Microsoft Office PowerPoint</Application>
  <PresentationFormat>On-screen Show (16:9)</PresentationFormat>
  <Paragraphs>128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IBM Plex Sans Arabic</vt:lpstr>
      <vt:lpstr>IBM Plex Sans Arabic SemiBold</vt:lpstr>
      <vt:lpstr>IBM Plex Sans</vt:lpstr>
      <vt:lpstr>Tajawal</vt:lpstr>
      <vt:lpstr>IBM Plex Sans Arabic Medium</vt:lpstr>
      <vt:lpstr>Arial</vt:lpstr>
      <vt:lpstr>Simple Light</vt:lpstr>
      <vt:lpstr>دورة تطوير تطبيقات الويب باستخدام ASP.Net</vt:lpstr>
      <vt:lpstr>Unit 2: ASP.net MVC</vt:lpstr>
      <vt:lpstr>PowerPoint Presentation</vt:lpstr>
      <vt:lpstr>MVC vs Razor Pages vs Blazor</vt:lpstr>
      <vt:lpstr>Overview of Frameworks</vt:lpstr>
      <vt:lpstr>Typical Folder Layouts</vt:lpstr>
      <vt:lpstr>Request Flow – MVC</vt:lpstr>
      <vt:lpstr>Razor Pages Flow</vt:lpstr>
      <vt:lpstr>Pros &amp; Cons</vt:lpstr>
      <vt:lpstr>MVC Pattern</vt:lpstr>
      <vt:lpstr>What is MVC?</vt:lpstr>
      <vt:lpstr>MVC Component Responsibilities</vt:lpstr>
      <vt:lpstr>MVC Request Flow</vt:lpstr>
      <vt:lpstr>MVC Best Practices</vt:lpstr>
      <vt:lpstr>Creating Controllers and Actions</vt:lpstr>
      <vt:lpstr>What is a Controller?</vt:lpstr>
      <vt:lpstr>PatientController – Example Setup</vt:lpstr>
      <vt:lpstr>Action Methods and Routing</vt:lpstr>
      <vt:lpstr>Creating a Basic Action Method</vt:lpstr>
      <vt:lpstr>Controller and Views Relationship</vt:lpstr>
      <vt:lpstr>References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LEGION</dc:creator>
  <cp:lastModifiedBy>Omar Abdelkerim</cp:lastModifiedBy>
  <cp:revision>106</cp:revision>
  <dcterms:modified xsi:type="dcterms:W3CDTF">2025-07-22T14:42:59Z</dcterms:modified>
</cp:coreProperties>
</file>