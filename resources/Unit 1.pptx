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9"/>
  </p:notesMasterIdLst>
  <p:sldIdLst>
    <p:sldId id="256" r:id="rId2"/>
    <p:sldId id="471" r:id="rId3"/>
    <p:sldId id="257" r:id="rId4"/>
    <p:sldId id="258" r:id="rId5"/>
    <p:sldId id="259" r:id="rId6"/>
    <p:sldId id="261" r:id="rId7"/>
    <p:sldId id="463" r:id="rId8"/>
    <p:sldId id="464" r:id="rId9"/>
    <p:sldId id="465" r:id="rId10"/>
    <p:sldId id="466" r:id="rId11"/>
    <p:sldId id="467" r:id="rId12"/>
    <p:sldId id="468" r:id="rId13"/>
    <p:sldId id="469" r:id="rId14"/>
    <p:sldId id="470" r:id="rId15"/>
    <p:sldId id="472" r:id="rId16"/>
    <p:sldId id="473" r:id="rId17"/>
    <p:sldId id="474" r:id="rId18"/>
    <p:sldId id="475" r:id="rId19"/>
    <p:sldId id="476" r:id="rId20"/>
    <p:sldId id="477" r:id="rId21"/>
    <p:sldId id="478" r:id="rId22"/>
    <p:sldId id="479" r:id="rId23"/>
    <p:sldId id="480" r:id="rId24"/>
    <p:sldId id="481" r:id="rId25"/>
    <p:sldId id="482" r:id="rId26"/>
    <p:sldId id="483" r:id="rId27"/>
    <p:sldId id="484" r:id="rId28"/>
    <p:sldId id="487" r:id="rId29"/>
    <p:sldId id="488" r:id="rId30"/>
    <p:sldId id="489" r:id="rId31"/>
    <p:sldId id="490" r:id="rId32"/>
    <p:sldId id="491" r:id="rId33"/>
    <p:sldId id="492" r:id="rId34"/>
    <p:sldId id="493" r:id="rId35"/>
    <p:sldId id="485" r:id="rId36"/>
    <p:sldId id="486" r:id="rId37"/>
    <p:sldId id="494" r:id="rId38"/>
    <p:sldId id="495" r:id="rId39"/>
    <p:sldId id="496" r:id="rId40"/>
    <p:sldId id="497" r:id="rId41"/>
    <p:sldId id="498" r:id="rId42"/>
    <p:sldId id="499" r:id="rId43"/>
    <p:sldId id="500" r:id="rId44"/>
    <p:sldId id="501" r:id="rId45"/>
    <p:sldId id="502" r:id="rId46"/>
    <p:sldId id="503" r:id="rId47"/>
    <p:sldId id="504" r:id="rId48"/>
    <p:sldId id="505" r:id="rId49"/>
    <p:sldId id="506" r:id="rId50"/>
    <p:sldId id="517" r:id="rId51"/>
    <p:sldId id="518" r:id="rId52"/>
    <p:sldId id="519" r:id="rId53"/>
    <p:sldId id="520" r:id="rId54"/>
    <p:sldId id="521" r:id="rId55"/>
    <p:sldId id="522" r:id="rId56"/>
    <p:sldId id="523" r:id="rId57"/>
    <p:sldId id="507" r:id="rId58"/>
    <p:sldId id="508" r:id="rId59"/>
    <p:sldId id="509" r:id="rId60"/>
    <p:sldId id="510" r:id="rId61"/>
    <p:sldId id="511" r:id="rId62"/>
    <p:sldId id="512" r:id="rId63"/>
    <p:sldId id="513" r:id="rId64"/>
    <p:sldId id="514" r:id="rId65"/>
    <p:sldId id="515" r:id="rId66"/>
    <p:sldId id="516" r:id="rId67"/>
    <p:sldId id="462" r:id="rId68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70"/>
    </p:embeddedFont>
    <p:embeddedFont>
      <p:font typeface="IBM Plex Sans" panose="020B0503050203000203" pitchFamily="34" charset="0"/>
      <p:regular r:id="rId71"/>
      <p:bold r:id="rId72"/>
      <p:italic r:id="rId73"/>
      <p:boldItalic r:id="rId74"/>
    </p:embeddedFont>
    <p:embeddedFont>
      <p:font typeface="IBM Plex Sans Arabic" panose="020B0604020202020204" charset="-78"/>
      <p:regular r:id="rId75"/>
      <p:bold r:id="rId76"/>
    </p:embeddedFont>
    <p:embeddedFont>
      <p:font typeface="IBM Plex Sans Arabic Medium" panose="020B0604020202020204" charset="-78"/>
      <p:regular r:id="rId77"/>
      <p:bold r:id="rId78"/>
    </p:embeddedFont>
    <p:embeddedFont>
      <p:font typeface="IBM Plex Sans Arabic SemiBold" panose="020B0604020202020204" charset="-78"/>
      <p:regular r:id="rId79"/>
      <p:bold r:id="rId80"/>
    </p:embeddedFont>
    <p:embeddedFont>
      <p:font typeface="Segoe UI Light" panose="020B0502040204020203" pitchFamily="34" charset="0"/>
      <p:regular r:id="rId81"/>
      <p:italic r:id="rId82"/>
    </p:embeddedFont>
    <p:embeddedFont>
      <p:font typeface="Segoe UI Variable Text Semibold" pitchFamily="2" charset="0"/>
      <p:bold r:id="rId83"/>
    </p:embeddedFont>
    <p:embeddedFont>
      <p:font typeface="Tajawal" panose="020B0604020202020204" charset="-78"/>
      <p:regular r:id="rId84"/>
      <p:bold r:id="rId8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24">
          <p15:clr>
            <a:srgbClr val="747775"/>
          </p15:clr>
        </p15:guide>
        <p15:guide id="2" orient="horz" pos="2560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759">
          <p15:clr>
            <a:srgbClr val="747775"/>
          </p15:clr>
        </p15:guide>
        <p15:guide id="5" orient="horz" pos="2428">
          <p15:clr>
            <a:srgbClr val="747775"/>
          </p15:clr>
        </p15:guide>
        <p15:guide id="6" pos="5325">
          <p15:clr>
            <a:srgbClr val="747775"/>
          </p15:clr>
        </p15:guide>
        <p15:guide id="7" orient="horz" pos="96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8" roundtripDataSignature="AMtx7misFEks1FpFDGX4WZY9pWrvcdEb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E3D8"/>
    <a:srgbClr val="5431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D26455B-1D17-4907-B4C4-1A028100F92F}">
  <a:tblStyle styleId="{CD26455B-1D17-4907-B4C4-1A028100F92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DFD"/>
          </a:solidFill>
        </a:fill>
      </a:tcStyle>
    </a:wholeTbl>
    <a:band1H>
      <a:tcTxStyle/>
      <a:tcStyle>
        <a:tcBdr/>
        <a:fill>
          <a:solidFill>
            <a:srgbClr val="CDD8F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8F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4706" autoAdjust="0"/>
  </p:normalViewPr>
  <p:slideViewPr>
    <p:cSldViewPr snapToGrid="0">
      <p:cViewPr varScale="1">
        <p:scale>
          <a:sx n="92" d="100"/>
          <a:sy n="92" d="100"/>
        </p:scale>
        <p:origin x="1214" y="72"/>
      </p:cViewPr>
      <p:guideLst>
        <p:guide orient="horz" pos="524"/>
        <p:guide orient="horz" pos="2560"/>
        <p:guide pos="2880"/>
        <p:guide orient="horz" pos="759"/>
        <p:guide orient="horz" pos="2428"/>
        <p:guide pos="5325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font" Target="fonts/font7.fntdata"/><Relationship Id="rId84" Type="http://schemas.openxmlformats.org/officeDocument/2006/relationships/font" Target="fonts/font15.fntdata"/><Relationship Id="rId7" Type="http://schemas.openxmlformats.org/officeDocument/2006/relationships/slide" Target="slides/slide6.xml"/><Relationship Id="rId71" Type="http://schemas.openxmlformats.org/officeDocument/2006/relationships/font" Target="fonts/font2.fntdata"/><Relationship Id="rId239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242" Type="http://schemas.openxmlformats.org/officeDocument/2006/relationships/tableStyles" Target="tableStyles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font" Target="fonts/font5.fntdata"/><Relationship Id="rId79" Type="http://schemas.openxmlformats.org/officeDocument/2006/relationships/font" Target="fonts/font10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font" Target="fonts/font13.fntdata"/><Relationship Id="rId19" Type="http://schemas.openxmlformats.org/officeDocument/2006/relationships/slide" Target="slides/slide18.xml"/><Relationship Id="rId24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77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3.fntdata"/><Relationship Id="rId80" Type="http://schemas.openxmlformats.org/officeDocument/2006/relationships/font" Target="fonts/font11.fntdata"/><Relationship Id="rId85" Type="http://schemas.openxmlformats.org/officeDocument/2006/relationships/font" Target="fonts/font1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1.fntdata"/><Relationship Id="rId75" Type="http://schemas.openxmlformats.org/officeDocument/2006/relationships/font" Target="fonts/font6.fntdata"/><Relationship Id="rId83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8" Type="http://customschemas.google.com/relationships/presentationmetadata" Target="metadata"/><Relationship Id="rId241" Type="http://schemas.openxmlformats.org/officeDocument/2006/relationships/theme" Target="theme/theme1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4.fntdata"/><Relationship Id="rId78" Type="http://schemas.openxmlformats.org/officeDocument/2006/relationships/font" Target="fonts/font9.fntdata"/><Relationship Id="rId81" Type="http://schemas.openxmlformats.org/officeDocument/2006/relationships/font" Target="fonts/font12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2B0F01-F34B-480F-884B-670712C79C29}" type="doc">
      <dgm:prSet loTypeId="urn:microsoft.com/office/officeart/2005/8/layout/radia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478EFE-C858-4489-A1DA-ECF9EB55A6CD}">
      <dgm:prSet phldrT="[Text]"/>
      <dgm:spPr>
        <a:solidFill>
          <a:srgbClr val="543198"/>
        </a:solidFill>
      </dgm:spPr>
      <dgm:t>
        <a:bodyPr/>
        <a:lstStyle/>
        <a:p>
          <a:r>
            <a:rPr lang="en-US" dirty="0"/>
            <a:t>EF Core</a:t>
          </a:r>
        </a:p>
      </dgm:t>
    </dgm:pt>
    <dgm:pt modelId="{980514B8-1CE2-4473-89CD-35D6FAFF8C31}" type="parTrans" cxnId="{7EA6B2DC-814F-443A-97D1-DA19B84BF873}">
      <dgm:prSet/>
      <dgm:spPr/>
      <dgm:t>
        <a:bodyPr/>
        <a:lstStyle/>
        <a:p>
          <a:endParaRPr lang="en-US"/>
        </a:p>
      </dgm:t>
    </dgm:pt>
    <dgm:pt modelId="{0D7A04BF-5DB3-44B1-AA60-EDD728839F59}" type="sibTrans" cxnId="{7EA6B2DC-814F-443A-97D1-DA19B84BF873}">
      <dgm:prSet/>
      <dgm:spPr/>
      <dgm:t>
        <a:bodyPr/>
        <a:lstStyle/>
        <a:p>
          <a:endParaRPr lang="en-US"/>
        </a:p>
      </dgm:t>
    </dgm:pt>
    <dgm:pt modelId="{8035C3D5-6E17-4820-A2CB-85F88E2F779F}">
      <dgm:prSet phldrT="[Text]"/>
      <dgm:spPr>
        <a:solidFill>
          <a:srgbClr val="543198"/>
        </a:solidFill>
      </dgm:spPr>
      <dgm:t>
        <a:bodyPr/>
        <a:lstStyle/>
        <a:p>
          <a:r>
            <a:rPr lang="en-US" dirty="0"/>
            <a:t>Database</a:t>
          </a:r>
        </a:p>
      </dgm:t>
    </dgm:pt>
    <dgm:pt modelId="{8F9B6FC3-176B-45C9-8710-8F5805EA3374}" type="parTrans" cxnId="{E1C0915F-F10B-4184-A669-1C5C29E75568}">
      <dgm:prSet/>
      <dgm:spPr>
        <a:ln>
          <a:solidFill>
            <a:schemeClr val="accent5"/>
          </a:solidFill>
          <a:headEnd type="triangle" w="med" len="med"/>
          <a:tailEnd type="triangle" w="med" len="med"/>
        </a:ln>
      </dgm:spPr>
      <dgm:t>
        <a:bodyPr/>
        <a:lstStyle/>
        <a:p>
          <a:endParaRPr lang="en-US"/>
        </a:p>
      </dgm:t>
    </dgm:pt>
    <dgm:pt modelId="{371FEDD8-BD7B-49CF-AF9A-C9F42B954508}" type="sibTrans" cxnId="{E1C0915F-F10B-4184-A669-1C5C29E75568}">
      <dgm:prSet/>
      <dgm:spPr/>
      <dgm:t>
        <a:bodyPr/>
        <a:lstStyle/>
        <a:p>
          <a:endParaRPr lang="en-US"/>
        </a:p>
      </dgm:t>
    </dgm:pt>
    <dgm:pt modelId="{A5758276-7C28-4D70-8755-7F1A083EAE4E}">
      <dgm:prSet/>
      <dgm:spPr>
        <a:solidFill>
          <a:srgbClr val="543198"/>
        </a:solidFill>
      </dgm:spPr>
      <dgm:t>
        <a:bodyPr/>
        <a:lstStyle/>
        <a:p>
          <a:r>
            <a:rPr lang="en-US" dirty="0"/>
            <a:t>C# Classes</a:t>
          </a:r>
        </a:p>
      </dgm:t>
    </dgm:pt>
    <dgm:pt modelId="{AC9D0925-5CB5-4880-AC7F-D568582FE4A9}" type="parTrans" cxnId="{3F2B45FB-C18C-4A09-AAE8-83A788F7F214}">
      <dgm:prSet/>
      <dgm:spPr>
        <a:ln>
          <a:solidFill>
            <a:schemeClr val="accent5"/>
          </a:solidFill>
          <a:headEnd type="triangle" w="med" len="med"/>
          <a:tailEnd type="triangle" w="med" len="med"/>
        </a:ln>
      </dgm:spPr>
      <dgm:t>
        <a:bodyPr/>
        <a:lstStyle/>
        <a:p>
          <a:endParaRPr lang="en-US"/>
        </a:p>
      </dgm:t>
    </dgm:pt>
    <dgm:pt modelId="{66001CEA-55DF-4E7B-8C67-CF2FE288568B}" type="sibTrans" cxnId="{3F2B45FB-C18C-4A09-AAE8-83A788F7F214}">
      <dgm:prSet/>
      <dgm:spPr/>
      <dgm:t>
        <a:bodyPr/>
        <a:lstStyle/>
        <a:p>
          <a:endParaRPr lang="en-US"/>
        </a:p>
      </dgm:t>
    </dgm:pt>
    <dgm:pt modelId="{58C7F6E6-8CEE-4591-8DDC-721E5342E6FC}" type="pres">
      <dgm:prSet presAssocID="{DE2B0F01-F34B-480F-884B-670712C79C29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8054DF5-0A0E-401C-B14E-EEFF91C0ECF3}" type="pres">
      <dgm:prSet presAssocID="{02478EFE-C858-4489-A1DA-ECF9EB55A6CD}" presName="centerShape" presStyleLbl="node0" presStyleIdx="0" presStyleCnt="1"/>
      <dgm:spPr/>
    </dgm:pt>
    <dgm:pt modelId="{19B37C89-E382-4788-A44A-006BCACAE7E9}" type="pres">
      <dgm:prSet presAssocID="{8F9B6FC3-176B-45C9-8710-8F5805EA3374}" presName="Name9" presStyleLbl="parChTrans1D2" presStyleIdx="0" presStyleCnt="2"/>
      <dgm:spPr/>
    </dgm:pt>
    <dgm:pt modelId="{D18DF33D-D38F-40CD-A0E7-E986E7F98905}" type="pres">
      <dgm:prSet presAssocID="{8F9B6FC3-176B-45C9-8710-8F5805EA3374}" presName="connTx" presStyleLbl="parChTrans1D2" presStyleIdx="0" presStyleCnt="2"/>
      <dgm:spPr/>
    </dgm:pt>
    <dgm:pt modelId="{61AA9BA0-A510-4525-A140-F85A5DCEC99D}" type="pres">
      <dgm:prSet presAssocID="{8035C3D5-6E17-4820-A2CB-85F88E2F779F}" presName="node" presStyleLbl="node1" presStyleIdx="0" presStyleCnt="2">
        <dgm:presLayoutVars>
          <dgm:bulletEnabled val="1"/>
        </dgm:presLayoutVars>
      </dgm:prSet>
      <dgm:spPr/>
    </dgm:pt>
    <dgm:pt modelId="{014D2D33-295E-497C-9335-0B33034C003A}" type="pres">
      <dgm:prSet presAssocID="{AC9D0925-5CB5-4880-AC7F-D568582FE4A9}" presName="Name9" presStyleLbl="parChTrans1D2" presStyleIdx="1" presStyleCnt="2"/>
      <dgm:spPr/>
    </dgm:pt>
    <dgm:pt modelId="{55639304-9982-4519-868B-CD02FEEF2762}" type="pres">
      <dgm:prSet presAssocID="{AC9D0925-5CB5-4880-AC7F-D568582FE4A9}" presName="connTx" presStyleLbl="parChTrans1D2" presStyleIdx="1" presStyleCnt="2"/>
      <dgm:spPr/>
    </dgm:pt>
    <dgm:pt modelId="{32EA0C4E-A224-44AF-92D5-E6C0BD4EDDE2}" type="pres">
      <dgm:prSet presAssocID="{A5758276-7C28-4D70-8755-7F1A083EAE4E}" presName="node" presStyleLbl="node1" presStyleIdx="1" presStyleCnt="2">
        <dgm:presLayoutVars>
          <dgm:bulletEnabled val="1"/>
        </dgm:presLayoutVars>
      </dgm:prSet>
      <dgm:spPr/>
    </dgm:pt>
  </dgm:ptLst>
  <dgm:cxnLst>
    <dgm:cxn modelId="{97483A0F-14DC-48E3-B557-7B832EAFCA56}" type="presOf" srcId="{AC9D0925-5CB5-4880-AC7F-D568582FE4A9}" destId="{55639304-9982-4519-868B-CD02FEEF2762}" srcOrd="1" destOrd="0" presId="urn:microsoft.com/office/officeart/2005/8/layout/radial1"/>
    <dgm:cxn modelId="{E1C0915F-F10B-4184-A669-1C5C29E75568}" srcId="{02478EFE-C858-4489-A1DA-ECF9EB55A6CD}" destId="{8035C3D5-6E17-4820-A2CB-85F88E2F779F}" srcOrd="0" destOrd="0" parTransId="{8F9B6FC3-176B-45C9-8710-8F5805EA3374}" sibTransId="{371FEDD8-BD7B-49CF-AF9A-C9F42B954508}"/>
    <dgm:cxn modelId="{B4BE7C59-3544-455C-B12F-64AD66C6BF08}" type="presOf" srcId="{AC9D0925-5CB5-4880-AC7F-D568582FE4A9}" destId="{014D2D33-295E-497C-9335-0B33034C003A}" srcOrd="0" destOrd="0" presId="urn:microsoft.com/office/officeart/2005/8/layout/radial1"/>
    <dgm:cxn modelId="{C0262A89-803D-4EDF-83F6-6CBE9BF4AB55}" type="presOf" srcId="{8F9B6FC3-176B-45C9-8710-8F5805EA3374}" destId="{D18DF33D-D38F-40CD-A0E7-E986E7F98905}" srcOrd="1" destOrd="0" presId="urn:microsoft.com/office/officeart/2005/8/layout/radial1"/>
    <dgm:cxn modelId="{AE085A8D-0F57-463F-BF79-3D9FFC56A487}" type="presOf" srcId="{02478EFE-C858-4489-A1DA-ECF9EB55A6CD}" destId="{28054DF5-0A0E-401C-B14E-EEFF91C0ECF3}" srcOrd="0" destOrd="0" presId="urn:microsoft.com/office/officeart/2005/8/layout/radial1"/>
    <dgm:cxn modelId="{55762FA2-D821-45B7-85D4-3997A79B8CA3}" type="presOf" srcId="{8F9B6FC3-176B-45C9-8710-8F5805EA3374}" destId="{19B37C89-E382-4788-A44A-006BCACAE7E9}" srcOrd="0" destOrd="0" presId="urn:microsoft.com/office/officeart/2005/8/layout/radial1"/>
    <dgm:cxn modelId="{626ECBBA-C24D-4A70-A30F-47974823032B}" type="presOf" srcId="{A5758276-7C28-4D70-8755-7F1A083EAE4E}" destId="{32EA0C4E-A224-44AF-92D5-E6C0BD4EDDE2}" srcOrd="0" destOrd="0" presId="urn:microsoft.com/office/officeart/2005/8/layout/radial1"/>
    <dgm:cxn modelId="{C1CB8AD0-FD0A-475A-8712-CC6E4551E6BA}" type="presOf" srcId="{DE2B0F01-F34B-480F-884B-670712C79C29}" destId="{58C7F6E6-8CEE-4591-8DDC-721E5342E6FC}" srcOrd="0" destOrd="0" presId="urn:microsoft.com/office/officeart/2005/8/layout/radial1"/>
    <dgm:cxn modelId="{7EA6B2DC-814F-443A-97D1-DA19B84BF873}" srcId="{DE2B0F01-F34B-480F-884B-670712C79C29}" destId="{02478EFE-C858-4489-A1DA-ECF9EB55A6CD}" srcOrd="0" destOrd="0" parTransId="{980514B8-1CE2-4473-89CD-35D6FAFF8C31}" sibTransId="{0D7A04BF-5DB3-44B1-AA60-EDD728839F59}"/>
    <dgm:cxn modelId="{3F2B45FB-C18C-4A09-AAE8-83A788F7F214}" srcId="{02478EFE-C858-4489-A1DA-ECF9EB55A6CD}" destId="{A5758276-7C28-4D70-8755-7F1A083EAE4E}" srcOrd="1" destOrd="0" parTransId="{AC9D0925-5CB5-4880-AC7F-D568582FE4A9}" sibTransId="{66001CEA-55DF-4E7B-8C67-CF2FE288568B}"/>
    <dgm:cxn modelId="{879548FD-DA6B-433D-BBF5-D3321EDB95DE}" type="presOf" srcId="{8035C3D5-6E17-4820-A2CB-85F88E2F779F}" destId="{61AA9BA0-A510-4525-A140-F85A5DCEC99D}" srcOrd="0" destOrd="0" presId="urn:microsoft.com/office/officeart/2005/8/layout/radial1"/>
    <dgm:cxn modelId="{BCE5BE22-BE59-4EF2-8DA5-ED112EB63F51}" type="presParOf" srcId="{58C7F6E6-8CEE-4591-8DDC-721E5342E6FC}" destId="{28054DF5-0A0E-401C-B14E-EEFF91C0ECF3}" srcOrd="0" destOrd="0" presId="urn:microsoft.com/office/officeart/2005/8/layout/radial1"/>
    <dgm:cxn modelId="{E78F07F0-D630-4E50-95BB-C8B25374B866}" type="presParOf" srcId="{58C7F6E6-8CEE-4591-8DDC-721E5342E6FC}" destId="{19B37C89-E382-4788-A44A-006BCACAE7E9}" srcOrd="1" destOrd="0" presId="urn:microsoft.com/office/officeart/2005/8/layout/radial1"/>
    <dgm:cxn modelId="{21C802E1-E14C-425C-8323-41857C6F6F8C}" type="presParOf" srcId="{19B37C89-E382-4788-A44A-006BCACAE7E9}" destId="{D18DF33D-D38F-40CD-A0E7-E986E7F98905}" srcOrd="0" destOrd="0" presId="urn:microsoft.com/office/officeart/2005/8/layout/radial1"/>
    <dgm:cxn modelId="{C4447FE7-C17C-4D0E-BAA5-87439E81360B}" type="presParOf" srcId="{58C7F6E6-8CEE-4591-8DDC-721E5342E6FC}" destId="{61AA9BA0-A510-4525-A140-F85A5DCEC99D}" srcOrd="2" destOrd="0" presId="urn:microsoft.com/office/officeart/2005/8/layout/radial1"/>
    <dgm:cxn modelId="{BD129ECA-D0F4-4269-B590-D23133C76A48}" type="presParOf" srcId="{58C7F6E6-8CEE-4591-8DDC-721E5342E6FC}" destId="{014D2D33-295E-497C-9335-0B33034C003A}" srcOrd="3" destOrd="0" presId="urn:microsoft.com/office/officeart/2005/8/layout/radial1"/>
    <dgm:cxn modelId="{A73A22BB-5671-4912-9D78-401545E99182}" type="presParOf" srcId="{014D2D33-295E-497C-9335-0B33034C003A}" destId="{55639304-9982-4519-868B-CD02FEEF2762}" srcOrd="0" destOrd="0" presId="urn:microsoft.com/office/officeart/2005/8/layout/radial1"/>
    <dgm:cxn modelId="{E7B4C205-7951-4B59-8950-93323F682930}" type="presParOf" srcId="{58C7F6E6-8CEE-4591-8DDC-721E5342E6FC}" destId="{32EA0C4E-A224-44AF-92D5-E6C0BD4EDDE2}" srcOrd="4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054DF5-0A0E-401C-B14E-EEFF91C0ECF3}">
      <dsp:nvSpPr>
        <dsp:cNvPr id="0" name=""/>
        <dsp:cNvSpPr/>
      </dsp:nvSpPr>
      <dsp:spPr>
        <a:xfrm>
          <a:off x="960685" y="1468685"/>
          <a:ext cx="1126628" cy="1126628"/>
        </a:xfrm>
        <a:prstGeom prst="ellipse">
          <a:avLst/>
        </a:prstGeom>
        <a:solidFill>
          <a:srgbClr val="543198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EF Core</a:t>
          </a:r>
        </a:p>
      </dsp:txBody>
      <dsp:txXfrm>
        <a:off x="1125676" y="1633676"/>
        <a:ext cx="796646" cy="796646"/>
      </dsp:txXfrm>
    </dsp:sp>
    <dsp:sp modelId="{19B37C89-E382-4788-A44A-006BCACAE7E9}">
      <dsp:nvSpPr>
        <dsp:cNvPr id="0" name=""/>
        <dsp:cNvSpPr/>
      </dsp:nvSpPr>
      <dsp:spPr>
        <a:xfrm rot="16200000">
          <a:off x="1354053" y="1265472"/>
          <a:ext cx="339893" cy="66533"/>
        </a:xfrm>
        <a:custGeom>
          <a:avLst/>
          <a:gdLst/>
          <a:ahLst/>
          <a:cxnLst/>
          <a:rect l="0" t="0" r="0" b="0"/>
          <a:pathLst>
            <a:path>
              <a:moveTo>
                <a:pt x="0" y="33266"/>
              </a:moveTo>
              <a:lnTo>
                <a:pt x="339893" y="33266"/>
              </a:lnTo>
            </a:path>
          </a:pathLst>
        </a:custGeom>
        <a:noFill/>
        <a:ln w="25400" cap="flat" cmpd="sng" algn="ctr">
          <a:solidFill>
            <a:schemeClr val="accent5"/>
          </a:solidFill>
          <a:prstDash val="solid"/>
          <a:headEnd type="triangle" w="med" len="med"/>
          <a:tailEnd type="triangle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515502" y="1290241"/>
        <a:ext cx="16994" cy="16994"/>
      </dsp:txXfrm>
    </dsp:sp>
    <dsp:sp modelId="{61AA9BA0-A510-4525-A140-F85A5DCEC99D}">
      <dsp:nvSpPr>
        <dsp:cNvPr id="0" name=""/>
        <dsp:cNvSpPr/>
      </dsp:nvSpPr>
      <dsp:spPr>
        <a:xfrm>
          <a:off x="960685" y="2163"/>
          <a:ext cx="1126628" cy="1126628"/>
        </a:xfrm>
        <a:prstGeom prst="ellipse">
          <a:avLst/>
        </a:prstGeom>
        <a:solidFill>
          <a:srgbClr val="543198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Database</a:t>
          </a:r>
        </a:p>
      </dsp:txBody>
      <dsp:txXfrm>
        <a:off x="1125676" y="167154"/>
        <a:ext cx="796646" cy="796646"/>
      </dsp:txXfrm>
    </dsp:sp>
    <dsp:sp modelId="{014D2D33-295E-497C-9335-0B33034C003A}">
      <dsp:nvSpPr>
        <dsp:cNvPr id="0" name=""/>
        <dsp:cNvSpPr/>
      </dsp:nvSpPr>
      <dsp:spPr>
        <a:xfrm rot="5400000">
          <a:off x="1354053" y="2731994"/>
          <a:ext cx="339893" cy="66533"/>
        </a:xfrm>
        <a:custGeom>
          <a:avLst/>
          <a:gdLst/>
          <a:ahLst/>
          <a:cxnLst/>
          <a:rect l="0" t="0" r="0" b="0"/>
          <a:pathLst>
            <a:path>
              <a:moveTo>
                <a:pt x="0" y="33266"/>
              </a:moveTo>
              <a:lnTo>
                <a:pt x="339893" y="33266"/>
              </a:lnTo>
            </a:path>
          </a:pathLst>
        </a:custGeom>
        <a:noFill/>
        <a:ln w="25400" cap="flat" cmpd="sng" algn="ctr">
          <a:solidFill>
            <a:schemeClr val="accent5"/>
          </a:solidFill>
          <a:prstDash val="solid"/>
          <a:headEnd type="triangle" w="med" len="med"/>
          <a:tailEnd type="triangle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515502" y="2756763"/>
        <a:ext cx="16994" cy="16994"/>
      </dsp:txXfrm>
    </dsp:sp>
    <dsp:sp modelId="{32EA0C4E-A224-44AF-92D5-E6C0BD4EDDE2}">
      <dsp:nvSpPr>
        <dsp:cNvPr id="0" name=""/>
        <dsp:cNvSpPr/>
      </dsp:nvSpPr>
      <dsp:spPr>
        <a:xfrm>
          <a:off x="960685" y="2935207"/>
          <a:ext cx="1126628" cy="1126628"/>
        </a:xfrm>
        <a:prstGeom prst="ellipse">
          <a:avLst/>
        </a:prstGeom>
        <a:solidFill>
          <a:srgbClr val="543198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C# Classes</a:t>
          </a:r>
        </a:p>
      </dsp:txBody>
      <dsp:txXfrm>
        <a:off x="1125676" y="3100198"/>
        <a:ext cx="796646" cy="7966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omar-abdelkerim-6ba09495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ef/core/cli/powershell#scaffold-dbcontext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" name="Google Shape;4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>
                <a:hlinkClick r:id="rId3"/>
              </a:rPr>
              <a:t>(5) Omar Abdelkerim | LinkedIn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>
          <a:extLst>
            <a:ext uri="{FF2B5EF4-FFF2-40B4-BE49-F238E27FC236}">
              <a16:creationId xmlns:a16="http://schemas.microsoft.com/office/drawing/2014/main" id="{4F1C8083-AAA9-DEA0-512D-CB02ADF05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>
            <a:extLst>
              <a:ext uri="{FF2B5EF4-FFF2-40B4-BE49-F238E27FC236}">
                <a16:creationId xmlns:a16="http://schemas.microsoft.com/office/drawing/2014/main" id="{AA159C79-87FC-0430-4199-4692DE28C2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" name="Google Shape;40;p1:notes">
            <a:extLst>
              <a:ext uri="{FF2B5EF4-FFF2-40B4-BE49-F238E27FC236}">
                <a16:creationId xmlns:a16="http://schemas.microsoft.com/office/drawing/2014/main" id="{0CC9F856-37DA-13DB-C3F7-3C73B0697E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73409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62736425-6E8B-B4F8-B7B0-313910C9C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>
            <a:extLst>
              <a:ext uri="{FF2B5EF4-FFF2-40B4-BE49-F238E27FC236}">
                <a16:creationId xmlns:a16="http://schemas.microsoft.com/office/drawing/2014/main" id="{41ECCB3A-DDAE-9ECE-D6B0-FC88101FC5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5:notes">
            <a:extLst>
              <a:ext uri="{FF2B5EF4-FFF2-40B4-BE49-F238E27FC236}">
                <a16:creationId xmlns:a16="http://schemas.microsoft.com/office/drawing/2014/main" id="{04196EB3-0318-55E2-E95C-0EC78A0FA1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56434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Scaffold-</a:t>
            </a:r>
            <a:r>
              <a:rPr lang="en-US" dirty="0" err="1"/>
              <a:t>DbContext</a:t>
            </a:r>
            <a:r>
              <a:rPr lang="en-US" dirty="0"/>
              <a:t> "Server=</a:t>
            </a:r>
            <a:r>
              <a:rPr lang="en-US" dirty="0" err="1"/>
              <a:t>YOUR_SERVER;Database</a:t>
            </a:r>
            <a:r>
              <a:rPr lang="en-US" dirty="0"/>
              <a:t>=</a:t>
            </a:r>
            <a:r>
              <a:rPr lang="en-US" dirty="0" err="1"/>
              <a:t>YOUR_DB;Trusted_Connection</a:t>
            </a:r>
            <a:r>
              <a:rPr lang="en-US" dirty="0"/>
              <a:t>=</a:t>
            </a:r>
            <a:r>
              <a:rPr lang="en-US" dirty="0" err="1"/>
              <a:t>True;TrustServerCertificate</a:t>
            </a:r>
            <a:r>
              <a:rPr lang="en-US" dirty="0"/>
              <a:t>=True;" </a:t>
            </a:r>
            <a:r>
              <a:rPr lang="en-US" dirty="0" err="1"/>
              <a:t>Microsoft.EntityFrameworkCore.SqlServer</a:t>
            </a:r>
            <a:r>
              <a:rPr lang="en-US" dirty="0"/>
              <a:t> -</a:t>
            </a:r>
            <a:r>
              <a:rPr lang="en-US" dirty="0" err="1"/>
              <a:t>OutputDir</a:t>
            </a:r>
            <a:r>
              <a:rPr lang="en-US" dirty="0"/>
              <a:t> Models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dirty="0"/>
              <a:t>Dotnet </a:t>
            </a:r>
            <a:r>
              <a:rPr lang="en-US" dirty="0" err="1"/>
              <a:t>ef</a:t>
            </a:r>
            <a:r>
              <a:rPr lang="en-US" dirty="0"/>
              <a:t> </a:t>
            </a:r>
            <a:r>
              <a:rPr lang="en-US" dirty="0" err="1"/>
              <a:t>dbcontext</a:t>
            </a:r>
            <a:r>
              <a:rPr lang="en-US" dirty="0"/>
              <a:t> scaffold "Server=</a:t>
            </a:r>
            <a:r>
              <a:rPr lang="en-US" dirty="0" err="1"/>
              <a:t>YOUR_SERVER;Database</a:t>
            </a:r>
            <a:r>
              <a:rPr lang="en-US" dirty="0"/>
              <a:t>=</a:t>
            </a:r>
            <a:r>
              <a:rPr lang="en-US" dirty="0" err="1"/>
              <a:t>YOUR_DB;Trusted_Connection</a:t>
            </a:r>
            <a:r>
              <a:rPr lang="en-US" dirty="0"/>
              <a:t>=</a:t>
            </a:r>
            <a:r>
              <a:rPr lang="en-US" dirty="0" err="1"/>
              <a:t>True;TrustServerCertificate</a:t>
            </a:r>
            <a:r>
              <a:rPr lang="en-US" dirty="0"/>
              <a:t>=True;" </a:t>
            </a:r>
            <a:r>
              <a:rPr lang="en-US" dirty="0" err="1"/>
              <a:t>Microsoft.EntityFrameworkCore.SqlServer</a:t>
            </a:r>
            <a:r>
              <a:rPr lang="en-US" dirty="0"/>
              <a:t> –output-</a:t>
            </a:r>
            <a:r>
              <a:rPr lang="en-US" dirty="0" err="1"/>
              <a:t>dir</a:t>
            </a:r>
            <a:r>
              <a:rPr lang="en-US" dirty="0"/>
              <a:t> Models</a:t>
            </a:r>
          </a:p>
          <a:p>
            <a:r>
              <a:rPr lang="en-US" dirty="0">
                <a:hlinkClick r:id="rId3"/>
              </a:rPr>
              <a:t>EF Core tools reference (Package Manager Console) - EF Core | Microsoft Learn</a:t>
            </a:r>
            <a:endParaRPr lang="en-US" dirty="0"/>
          </a:p>
          <a:p>
            <a:r>
              <a:rPr lang="en-US" dirty="0"/>
              <a:t>dotnet add package </a:t>
            </a:r>
            <a:r>
              <a:rPr lang="en-US"/>
              <a:t>PackageName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9276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37E8D5DF-55B5-ADCC-B64B-B081F7539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>
            <a:extLst>
              <a:ext uri="{FF2B5EF4-FFF2-40B4-BE49-F238E27FC236}">
                <a16:creationId xmlns:a16="http://schemas.microsoft.com/office/drawing/2014/main" id="{9380BE15-C4B4-91FD-1A01-631FED482C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5:notes">
            <a:extLst>
              <a:ext uri="{FF2B5EF4-FFF2-40B4-BE49-F238E27FC236}">
                <a16:creationId xmlns:a16="http://schemas.microsoft.com/office/drawing/2014/main" id="{0F30308C-63B7-EBA0-8841-960BFA9C9A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25968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4A03B63A-F245-3C1F-52E9-96ACB598E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>
            <a:extLst>
              <a:ext uri="{FF2B5EF4-FFF2-40B4-BE49-F238E27FC236}">
                <a16:creationId xmlns:a16="http://schemas.microsoft.com/office/drawing/2014/main" id="{7008075F-609C-A178-D2BD-554A340265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5:notes">
            <a:extLst>
              <a:ext uri="{FF2B5EF4-FFF2-40B4-BE49-F238E27FC236}">
                <a16:creationId xmlns:a16="http://schemas.microsoft.com/office/drawing/2014/main" id="{051C8BEF-D609-7BBC-D760-FF01683AA2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99865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A4436DC6-32CD-52E0-9084-F515684F7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>
            <a:extLst>
              <a:ext uri="{FF2B5EF4-FFF2-40B4-BE49-F238E27FC236}">
                <a16:creationId xmlns:a16="http://schemas.microsoft.com/office/drawing/2014/main" id="{AE454284-8EC4-6994-8C8E-B1051C8327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5:notes">
            <a:extLst>
              <a:ext uri="{FF2B5EF4-FFF2-40B4-BE49-F238E27FC236}">
                <a16:creationId xmlns:a16="http://schemas.microsoft.com/office/drawing/2014/main" id="{DD035576-B369-13A0-58BA-5523A45339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55283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C9ECD8B3-97D2-8256-0EA9-A9E31DF2E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>
            <a:extLst>
              <a:ext uri="{FF2B5EF4-FFF2-40B4-BE49-F238E27FC236}">
                <a16:creationId xmlns:a16="http://schemas.microsoft.com/office/drawing/2014/main" id="{AB91297D-33FA-45B5-6302-3CC6464B21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5:notes">
            <a:extLst>
              <a:ext uri="{FF2B5EF4-FFF2-40B4-BE49-F238E27FC236}">
                <a16:creationId xmlns:a16="http://schemas.microsoft.com/office/drawing/2014/main" id="{7AE7B7A5-4F5B-7382-0AA8-4EBA3C200C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21910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4" name="Google Shape;1494;p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11" name="Google Shape;11;p1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7371" y="317427"/>
            <a:ext cx="1356656" cy="2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8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184"/>
          <p:cNvSpPr txBox="1">
            <a:spLocks noGrp="1"/>
          </p:cNvSpPr>
          <p:nvPr>
            <p:ph type="title"/>
          </p:nvPr>
        </p:nvSpPr>
        <p:spPr>
          <a:xfrm>
            <a:off x="2079450" y="445025"/>
            <a:ext cx="67074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184"/>
          <p:cNvSpPr txBox="1">
            <a:spLocks noGrp="1"/>
          </p:cNvSpPr>
          <p:nvPr>
            <p:ph type="body" idx="1"/>
          </p:nvPr>
        </p:nvSpPr>
        <p:spPr>
          <a:xfrm>
            <a:off x="2758650" y="1334150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  <a:defRPr sz="4300" b="1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20" name="Google Shape;20;p18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21" name="Google Shape;21;p18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188"/>
          <p:cNvSpPr txBox="1">
            <a:spLocks noGrp="1"/>
          </p:cNvSpPr>
          <p:nvPr>
            <p:ph type="title"/>
          </p:nvPr>
        </p:nvSpPr>
        <p:spPr>
          <a:xfrm>
            <a:off x="2079450" y="714175"/>
            <a:ext cx="67074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188"/>
          <p:cNvSpPr txBox="1">
            <a:spLocks noGrp="1"/>
          </p:cNvSpPr>
          <p:nvPr>
            <p:ph type="body" idx="1"/>
          </p:nvPr>
        </p:nvSpPr>
        <p:spPr>
          <a:xfrm>
            <a:off x="2758650" y="1526325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9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" name="Google Shape;32;p1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59271" y="4703039"/>
            <a:ext cx="946580" cy="21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19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19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19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8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2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2500"/>
              <a:buFont typeface="IBM Plex Sans Arabic Medium"/>
              <a:buNone/>
              <a:defRPr sz="2500" b="0" i="0" u="none" strike="noStrike" cap="none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marR="0"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marR="0"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marR="0"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marR="0"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marR="0"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marR="0"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marR="0"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marR="0"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" name="Google Shape;7;p18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IBM Plex Sans Arabic"/>
              <a:buChar char="●"/>
              <a:defRPr sz="18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marR="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marR="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marR="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marR="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marR="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marR="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marR="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marR="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endParaRPr/>
          </a:p>
        </p:txBody>
      </p:sp>
      <p:sp>
        <p:nvSpPr>
          <p:cNvPr id="8" name="Google Shape;8;p18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  <p:sldLayoutId id="2147483656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hyperlink" Target="https://www.youtube.com/watch?v=3BFxALltQa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ka.ms/ssms/21/release/vs_SSMS.exe" TargetMode="External"/><Relationship Id="rId5" Type="http://schemas.openxmlformats.org/officeDocument/2006/relationships/hyperlink" Target="https://www.microsoft.com/en-sa/download/details.aspx?id=104781" TargetMode="External"/><Relationship Id="rId4" Type="http://schemas.openxmlformats.org/officeDocument/2006/relationships/hyperlink" Target="https://visualstudio.microsoft.com/vs/community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"/>
          <p:cNvSpPr txBox="1">
            <a:spLocks noGrp="1"/>
          </p:cNvSpPr>
          <p:nvPr>
            <p:ph type="title"/>
          </p:nvPr>
        </p:nvSpPr>
        <p:spPr>
          <a:xfrm>
            <a:off x="776126" y="1620808"/>
            <a:ext cx="7591748" cy="1901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ar-SA" sz="5400" b="1" dirty="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دورة تطوير تطبيقات الويب باستخدام </a:t>
            </a:r>
            <a:r>
              <a:rPr lang="en-US" sz="5400" b="1" dirty="0" err="1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ASP.Net</a:t>
            </a:r>
            <a:endParaRPr dirty="0"/>
          </a:p>
        </p:txBody>
      </p:sp>
      <p:sp>
        <p:nvSpPr>
          <p:cNvPr id="43" name="Google Shape;43;p1"/>
          <p:cNvSpPr txBox="1"/>
          <p:nvPr/>
        </p:nvSpPr>
        <p:spPr>
          <a:xfrm>
            <a:off x="460563" y="4453053"/>
            <a:ext cx="7907311" cy="53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12000"/>
              <a:buFont typeface="IBM Plex Sans Arabic Medium"/>
              <a:buNone/>
            </a:pPr>
            <a:r>
              <a:rPr lang="ar-SA" sz="1800" b="1" i="0" u="none" strike="noStrike" cap="none" dirty="0">
                <a:solidFill>
                  <a:schemeClr val="lt1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يقدمها: عمر عبدالكريم المناخلي</a:t>
            </a:r>
            <a:endParaRPr sz="3600" b="1" i="0" u="none" strike="noStrike" cap="none" dirty="0">
              <a:solidFill>
                <a:schemeClr val="lt1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>
          <a:extLst>
            <a:ext uri="{FF2B5EF4-FFF2-40B4-BE49-F238E27FC236}">
              <a16:creationId xmlns:a16="http://schemas.microsoft.com/office/drawing/2014/main" id="{6EC5ABB6-111A-1E0B-F38D-23006CB1E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">
            <a:extLst>
              <a:ext uri="{FF2B5EF4-FFF2-40B4-BE49-F238E27FC236}">
                <a16:creationId xmlns:a16="http://schemas.microsoft.com/office/drawing/2014/main" id="{65B683C7-DB3C-CEC2-4554-1E34D1044E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537" y="2022170"/>
            <a:ext cx="8474927" cy="10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-US" sz="5400" b="1" dirty="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Unit 1: Entity Framework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33084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91"/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91"/>
          <p:cNvSpPr txBox="1">
            <a:spLocks noGrp="1"/>
          </p:cNvSpPr>
          <p:nvPr>
            <p:ph type="body" idx="1"/>
          </p:nvPr>
        </p:nvSpPr>
        <p:spPr>
          <a:xfrm>
            <a:off x="0" y="4280"/>
            <a:ext cx="9144000" cy="4431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dirty="0">
                <a:solidFill>
                  <a:srgbClr val="7030A0"/>
                </a:solidFill>
                <a:latin typeface="IBM Plex Sans"/>
                <a:ea typeface="IBM Plex Sans"/>
                <a:cs typeface="IBM Plex Sans"/>
                <a:sym typeface="IBM Plex Sans"/>
              </a:rPr>
              <a:t>Outlines:</a:t>
            </a:r>
            <a:endParaRPr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>
                <a:latin typeface="IBM Plex Sans"/>
                <a:ea typeface="IBM Plex Sans"/>
                <a:cs typeface="IBM Plex Sans"/>
                <a:sym typeface="IBM Plex Sans"/>
              </a:rPr>
              <a:t>Setting the environment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/>
              <a:t>ORM (Object-Relational Mapping) concept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/>
              <a:t>Code First vs Database First Approaches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/>
              <a:t>Data Annotations vs Fluent API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/>
              <a:t>Migrations and Database Management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/>
              <a:t>CRUD Operations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/>
              <a:t>LINQ Queries with EF Core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 txBox="1">
            <a:spLocks noGrp="1"/>
          </p:cNvSpPr>
          <p:nvPr>
            <p:ph type="title"/>
          </p:nvPr>
        </p:nvSpPr>
        <p:spPr>
          <a:xfrm>
            <a:off x="1109272" y="1320177"/>
            <a:ext cx="6925455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4800" b="1" dirty="0">
                <a:solidFill>
                  <a:srgbClr val="EEEDED"/>
                </a:solidFill>
              </a:rPr>
              <a:t>Setting up the Environment</a:t>
            </a:r>
            <a:endParaRPr sz="4800" b="1" dirty="0">
              <a:solidFill>
                <a:srgbClr val="EEEDED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3"/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"/>
          <p:cNvSpPr txBox="1">
            <a:spLocks noGrp="1"/>
          </p:cNvSpPr>
          <p:nvPr>
            <p:ph type="body" idx="1"/>
          </p:nvPr>
        </p:nvSpPr>
        <p:spPr>
          <a:xfrm>
            <a:off x="0" y="177900"/>
            <a:ext cx="9000944" cy="4502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28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lvl="0" indent="-228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Software requirements:</a:t>
            </a:r>
          </a:p>
          <a:p>
            <a:pPr lvl="1" indent="-342900" rtl="0">
              <a:buSzPts val="1800"/>
              <a:buFont typeface="+mj-lt"/>
              <a:buAutoNum type="arabicPeriod"/>
            </a:pPr>
            <a:endParaRPr lang="en-US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lvl="1" indent="-342900" rtl="0">
              <a:buSzPts val="1800"/>
              <a:buFont typeface="+mj-lt"/>
              <a:buAutoNum type="arabicPeriod"/>
            </a:pPr>
            <a:r>
              <a:rPr lang="en-US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Visual Studio (Community Edition)</a:t>
            </a:r>
            <a:br>
              <a:rPr lang="en-US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-US" dirty="0">
                <a:hlinkClick r:id="rId4"/>
              </a:rPr>
              <a:t>Visual Studio Community | Download Latest Free Version</a:t>
            </a:r>
            <a:endParaRPr lang="en-US" dirty="0"/>
          </a:p>
          <a:p>
            <a:pPr lvl="1" indent="-342900" rtl="0">
              <a:buSzPts val="1800"/>
              <a:buFont typeface="+mj-lt"/>
              <a:buAutoNum type="arabicPeriod"/>
            </a:pPr>
            <a:endParaRPr lang="en-US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lvl="1" indent="-342900" rtl="0">
              <a:buSzPts val="1800"/>
              <a:buFont typeface="+mj-lt"/>
              <a:buAutoNum type="arabicPeriod"/>
            </a:pPr>
            <a:r>
              <a:rPr lang="en-US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MS SQL Server 2022 Express</a:t>
            </a:r>
            <a:br>
              <a:rPr lang="en-US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-US" dirty="0">
                <a:hlinkClick r:id="rId5"/>
              </a:rPr>
              <a:t>Download Microsoft® SQL Server® 2022 Express from Official Microsoft Download Center</a:t>
            </a:r>
            <a:endParaRPr lang="en-US" dirty="0"/>
          </a:p>
          <a:p>
            <a:pPr lvl="1" indent="-342900" rtl="0">
              <a:buSzPts val="1800"/>
              <a:buFont typeface="+mj-lt"/>
              <a:buAutoNum type="arabicPeriod"/>
            </a:pPr>
            <a:endParaRPr lang="en-US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lvl="1" indent="-342900" rtl="0">
              <a:buSzPts val="1800"/>
              <a:buFont typeface="+mj-lt"/>
              <a:buAutoNum type="arabicPeriod"/>
            </a:pPr>
            <a:r>
              <a:rPr lang="en-US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SQL Server Management Studio</a:t>
            </a:r>
            <a:br>
              <a:rPr lang="en-US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-US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  <a:hlinkClick r:id="rId6"/>
              </a:rPr>
              <a:t>https://aka.ms/ssms/21/release/vs_SSMS.exe</a:t>
            </a:r>
            <a:endParaRPr lang="en-US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lvl="1" indent="-342900" rtl="0">
              <a:buSzPts val="1800"/>
              <a:buFont typeface="+mj-lt"/>
              <a:buAutoNum type="arabicPeriod"/>
            </a:pPr>
            <a:endParaRPr lang="en-US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lvl="1" indent="-342900" rtl="0">
              <a:buSzPts val="1800"/>
              <a:buFont typeface="+mj-lt"/>
              <a:buAutoNum type="arabicPeriod"/>
            </a:pPr>
            <a:endParaRPr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lvl="0" indent="-228600" algn="just" rtl="0">
              <a:buFont typeface="Arial" panose="020B0604020202020204" pitchFamily="34" charset="0"/>
              <a:buChar char="•"/>
            </a:pPr>
            <a:r>
              <a:rPr lang="en-US" sz="1200" dirty="0">
                <a:hlinkClick r:id="rId7"/>
              </a:rPr>
              <a:t>https://youtu.be/zzLr5VxVf4o?si=bFPV2YBCakWqUv4P</a:t>
            </a:r>
          </a:p>
          <a:p>
            <a:pPr lvl="0" indent="-228600" algn="just" rtl="0">
              <a:buFont typeface="Arial" panose="020B0604020202020204" pitchFamily="34" charset="0"/>
              <a:buChar char="•"/>
            </a:pPr>
            <a:r>
              <a:rPr lang="en-US" sz="1200" dirty="0">
                <a:hlinkClick r:id="rId7"/>
              </a:rPr>
              <a:t>How To Install SQL Server on Mac (M1 | M2 | M3) – YouTube</a:t>
            </a:r>
            <a:endParaRPr lang="en-US" sz="1200" dirty="0"/>
          </a:p>
          <a:p>
            <a:pPr lvl="0" indent="-228600" algn="just" rtl="0">
              <a:buFont typeface="Arial" panose="020B0604020202020204" pitchFamily="34" charset="0"/>
              <a:buChar char="•"/>
            </a:pPr>
            <a:endParaRPr sz="1200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/>
          <p:cNvSpPr txBox="1">
            <a:spLocks noGrp="1"/>
          </p:cNvSpPr>
          <p:nvPr>
            <p:ph type="title"/>
          </p:nvPr>
        </p:nvSpPr>
        <p:spPr>
          <a:xfrm>
            <a:off x="1127261" y="1590000"/>
            <a:ext cx="7354175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4800" b="1" dirty="0">
                <a:solidFill>
                  <a:srgbClr val="EEEDED"/>
                </a:solidFill>
              </a:rPr>
              <a:t>Intro to </a:t>
            </a:r>
            <a:r>
              <a:rPr lang="en-US" sz="4800" b="1" dirty="0">
                <a:solidFill>
                  <a:srgbClr val="58E3D8"/>
                </a:solidFill>
                <a:latin typeface="IBM Plex Sans Arabic SemiBold"/>
                <a:cs typeface="IBM Plex Sans Arabic SemiBold"/>
              </a:rPr>
              <a:t>ORM</a:t>
            </a:r>
            <a:r>
              <a:rPr lang="en-US" sz="4800" b="1" dirty="0">
                <a:solidFill>
                  <a:srgbClr val="EEEDED"/>
                </a:solidFill>
              </a:rPr>
              <a:t> </a:t>
            </a:r>
            <a:br>
              <a:rPr lang="en-US" sz="4800" b="1" dirty="0">
                <a:solidFill>
                  <a:srgbClr val="EEEDED"/>
                </a:solidFill>
              </a:rPr>
            </a:br>
            <a:r>
              <a:rPr lang="en-US" sz="4800" b="1" dirty="0">
                <a:solidFill>
                  <a:srgbClr val="EEEDED"/>
                </a:solidFill>
              </a:rPr>
              <a:t>and </a:t>
            </a:r>
            <a:r>
              <a:rPr lang="en-US" sz="4800" b="1" dirty="0">
                <a:solidFill>
                  <a:srgbClr val="58E3D8"/>
                </a:solidFill>
                <a:latin typeface="IBM Plex Sans Arabic SemiBold"/>
                <a:cs typeface="IBM Plex Sans Arabic SemiBold"/>
              </a:rPr>
              <a:t>EF Core</a:t>
            </a:r>
            <a:endParaRPr sz="4800" b="1" dirty="0">
              <a:solidFill>
                <a:srgbClr val="58E3D8"/>
              </a:solidFill>
              <a:latin typeface="IBM Plex Sans Arabic SemiBold"/>
              <a:cs typeface="IBM Plex Sans Arabic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3B016-6D77-F350-ACDB-5F6C29021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Learning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AA1EAA-8E5B-712F-8E39-62EB03EBF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334149"/>
            <a:ext cx="8221855" cy="3096601"/>
          </a:xfrm>
        </p:spPr>
        <p:txBody>
          <a:bodyPr/>
          <a:lstStyle/>
          <a:p>
            <a:pPr rtl="0"/>
            <a:r>
              <a:rPr lang="en-US" dirty="0"/>
              <a:t>By the end of this lesson, you will be able to:</a:t>
            </a:r>
          </a:p>
          <a:p>
            <a:pPr lvl="1" rtl="0">
              <a:lnSpc>
                <a:spcPct val="200000"/>
              </a:lnSpc>
            </a:pPr>
            <a:r>
              <a:rPr lang="en-US" sz="1600" dirty="0"/>
              <a:t>Understand what </a:t>
            </a:r>
            <a:r>
              <a:rPr lang="en-US" sz="1600" b="1" dirty="0"/>
              <a:t>ORM</a:t>
            </a:r>
            <a:r>
              <a:rPr lang="en-US" sz="1600" dirty="0"/>
              <a:t> means and why it's used.</a:t>
            </a:r>
          </a:p>
          <a:p>
            <a:pPr lvl="1" rtl="0">
              <a:lnSpc>
                <a:spcPct val="200000"/>
              </a:lnSpc>
            </a:pPr>
            <a:r>
              <a:rPr lang="en-US" sz="1600" dirty="0"/>
              <a:t>Describe the benefits of </a:t>
            </a:r>
            <a:r>
              <a:rPr lang="en-US" sz="1600" b="1" dirty="0"/>
              <a:t>Entity Framework Core</a:t>
            </a:r>
            <a:r>
              <a:rPr lang="en-US" sz="1600" dirty="0"/>
              <a:t>.</a:t>
            </a:r>
          </a:p>
          <a:p>
            <a:pPr lvl="1" rtl="0">
              <a:lnSpc>
                <a:spcPct val="200000"/>
              </a:lnSpc>
            </a:pPr>
            <a:r>
              <a:rPr lang="en-US" sz="1600" dirty="0"/>
              <a:t>Identify real-world use cases in web development.</a:t>
            </a:r>
          </a:p>
          <a:p>
            <a:pPr lvl="1" rtl="0">
              <a:lnSpc>
                <a:spcPct val="200000"/>
              </a:lnSpc>
            </a:pPr>
            <a:r>
              <a:rPr lang="en-US" sz="1600" dirty="0"/>
              <a:t>Set up </a:t>
            </a:r>
            <a:r>
              <a:rPr lang="en-US" dirty="0"/>
              <a:t>EF Core in a project.</a:t>
            </a:r>
          </a:p>
        </p:txBody>
      </p:sp>
    </p:spTree>
    <p:extLst>
      <p:ext uri="{BB962C8B-B14F-4D97-AF65-F5344CB8AC3E}">
        <p14:creationId xmlns:p14="http://schemas.microsoft.com/office/powerpoint/2010/main" val="2494642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2525D-FC23-B2FB-DD5F-69B9FEE5F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8082A-515E-D7D9-3C14-6A44F55E2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What is ORM?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879DA2-CF3A-79A9-A52F-65012870E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334149"/>
            <a:ext cx="8221855" cy="3096601"/>
          </a:xfrm>
        </p:spPr>
        <p:txBody>
          <a:bodyPr/>
          <a:lstStyle/>
          <a:p>
            <a:pPr rtl="0">
              <a:spcBef>
                <a:spcPts val="1200"/>
              </a:spcBef>
            </a:pPr>
            <a:r>
              <a:rPr lang="en-US" b="1" dirty="0"/>
              <a:t>ORM</a:t>
            </a:r>
            <a:r>
              <a:rPr lang="en-US" dirty="0"/>
              <a:t> = Object-Relational Mapping</a:t>
            </a:r>
            <a:br>
              <a:rPr lang="en-US" dirty="0"/>
            </a:br>
            <a:r>
              <a:rPr lang="en-US" dirty="0"/>
              <a:t>It’s a technique to convert data between C# objects and relational databases (e.g., SQL Server).</a:t>
            </a:r>
          </a:p>
          <a:p>
            <a:pPr rtl="0">
              <a:spcBef>
                <a:spcPts val="1200"/>
              </a:spcBef>
            </a:pPr>
            <a:r>
              <a:rPr lang="en-US" dirty="0"/>
              <a:t>💡 </a:t>
            </a:r>
            <a:r>
              <a:rPr lang="en-US" b="1" dirty="0"/>
              <a:t>Without</a:t>
            </a:r>
            <a:r>
              <a:rPr lang="en-US" dirty="0"/>
              <a:t> ORM:</a:t>
            </a:r>
            <a:br>
              <a:rPr lang="en-US" dirty="0"/>
            </a:br>
            <a:r>
              <a:rPr lang="en-US" dirty="0"/>
              <a:t>You write raw SQL, manually map data.</a:t>
            </a:r>
          </a:p>
          <a:p>
            <a:pPr rtl="0">
              <a:spcBef>
                <a:spcPts val="1200"/>
              </a:spcBef>
            </a:pPr>
            <a:r>
              <a:rPr lang="en-US" dirty="0"/>
              <a:t>💡 </a:t>
            </a:r>
            <a:r>
              <a:rPr lang="en-US" b="1" dirty="0"/>
              <a:t>With</a:t>
            </a:r>
            <a:r>
              <a:rPr lang="en-US" dirty="0"/>
              <a:t> ORM:</a:t>
            </a:r>
            <a:br>
              <a:rPr lang="en-US" dirty="0"/>
            </a:br>
            <a:r>
              <a:rPr lang="en-US" dirty="0"/>
              <a:t>You interact with objects, and the ORM handles SQL for you.</a:t>
            </a:r>
          </a:p>
        </p:txBody>
      </p:sp>
    </p:spTree>
    <p:extLst>
      <p:ext uri="{BB962C8B-B14F-4D97-AF65-F5344CB8AC3E}">
        <p14:creationId xmlns:p14="http://schemas.microsoft.com/office/powerpoint/2010/main" val="4220820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1F0F2-A382-8E46-FF00-DE32C8BCD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830CF-A6AB-3DBA-CEA0-8970F7410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2899317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With vs. Without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B6F871-577C-6205-AD32-C3516E2EC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801" y="556059"/>
            <a:ext cx="5273497" cy="34064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4782A1-6D95-EEA3-7801-6C6CD0A1C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522" y="4073528"/>
            <a:ext cx="3939881" cy="800169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D4A89-AF17-BA4B-BE5E-44870C11B1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5523" y="1334149"/>
            <a:ext cx="8281328" cy="3096601"/>
          </a:xfrm>
        </p:spPr>
        <p:txBody>
          <a:bodyPr/>
          <a:lstStyle/>
          <a:p>
            <a:pPr marL="274320" indent="-182880" rtl="0">
              <a:spcBef>
                <a:spcPts val="1200"/>
              </a:spcBef>
            </a:pPr>
            <a:r>
              <a:rPr lang="en-US" dirty="0"/>
              <a:t>💡 </a:t>
            </a:r>
            <a:r>
              <a:rPr lang="en-US" b="1" dirty="0"/>
              <a:t>ORM</a:t>
            </a:r>
            <a:r>
              <a:rPr lang="en-US" dirty="0"/>
              <a:t> handles:</a:t>
            </a:r>
          </a:p>
          <a:p>
            <a:pPr marL="274320" lvl="1" indent="-182880" rtl="0">
              <a:spcBef>
                <a:spcPts val="1200"/>
              </a:spcBef>
            </a:pPr>
            <a:r>
              <a:rPr lang="en-US" dirty="0"/>
              <a:t>Opening/closing connections</a:t>
            </a:r>
          </a:p>
          <a:p>
            <a:pPr marL="274320" lvl="1" indent="-182880" rtl="0">
              <a:spcBef>
                <a:spcPts val="1200"/>
              </a:spcBef>
            </a:pPr>
            <a:r>
              <a:rPr lang="en-US" dirty="0"/>
              <a:t>Parameterized queries (security)</a:t>
            </a:r>
          </a:p>
          <a:p>
            <a:pPr marL="274320" lvl="1" indent="-182880" rtl="0">
              <a:spcBef>
                <a:spcPts val="1200"/>
              </a:spcBef>
            </a:pPr>
            <a:r>
              <a:rPr lang="en-US" dirty="0"/>
              <a:t>Data conversion (reader → object)</a:t>
            </a:r>
          </a:p>
        </p:txBody>
      </p:sp>
    </p:spTree>
    <p:extLst>
      <p:ext uri="{BB962C8B-B14F-4D97-AF65-F5344CB8AC3E}">
        <p14:creationId xmlns:p14="http://schemas.microsoft.com/office/powerpoint/2010/main" val="1989744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C6E19-CC1D-68E4-2276-E823D6C8D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51FCA-9A81-065F-6640-6D8A2EA03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Why Use ORM?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755E885-C2CF-A000-9F78-011E8B4D15C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64995" y="1334149"/>
                <a:ext cx="8221855" cy="3527783"/>
              </a:xfrm>
            </p:spPr>
            <p:txBody>
              <a:bodyPr>
                <a:normAutofit lnSpcReduction="10000"/>
              </a:bodyPr>
              <a:lstStyle/>
              <a:p>
                <a:pPr marL="114300" indent="0" rtl="0">
                  <a:spcBef>
                    <a:spcPts val="1200"/>
                  </a:spcBef>
                  <a:buNone/>
                </a:pPr>
                <a:r>
                  <a:rPr lang="en-US" dirty="0"/>
                  <a:t>✅ Reduces boilerplate SQL code</a:t>
                </a:r>
              </a:p>
              <a:p>
                <a:pPr marL="114300" indent="0" rtl="0">
                  <a:spcBef>
                    <a:spcPts val="1200"/>
                  </a:spcBef>
                  <a:buNone/>
                </a:pPr>
                <a:r>
                  <a:rPr lang="en-US" dirty="0"/>
                  <a:t>✅ Keeps code clean and maintainable</a:t>
                </a:r>
              </a:p>
              <a:p>
                <a:pPr marL="114300" indent="0" rtl="0">
                  <a:spcBef>
                    <a:spcPts val="1200"/>
                  </a:spcBef>
                  <a:buNone/>
                </a:pPr>
                <a:r>
                  <a:rPr lang="en-US" dirty="0"/>
                  <a:t>✅ Supports relationships between tables using C# objects</a:t>
                </a:r>
              </a:p>
              <a:p>
                <a:pPr marL="114300" indent="0" rtl="0">
                  <a:spcBef>
                    <a:spcPts val="1200"/>
                  </a:spcBef>
                  <a:buNone/>
                </a:pPr>
                <a:r>
                  <a:rPr lang="en-US" dirty="0"/>
                  <a:t>✅ Cross-platform &amp; database-agnostic</a:t>
                </a:r>
              </a:p>
              <a:p>
                <a:pPr marL="114300" indent="0" rtl="0">
                  <a:spcBef>
                    <a:spcPts val="1200"/>
                  </a:spcBef>
                  <a:buNone/>
                </a:pPr>
                <a:r>
                  <a:rPr lang="en-US" dirty="0"/>
                  <a:t>✅ Works great with modern frameworks (like ASP.NET Core)</a:t>
                </a:r>
              </a:p>
              <a:p>
                <a:pPr marL="114300" indent="0" rtl="0">
                  <a:spcBef>
                    <a:spcPts val="1200"/>
                  </a:spcBef>
                  <a:buNone/>
                </a:pPr>
                <a:r>
                  <a:rPr lang="en-US" dirty="0"/>
                  <a:t>Example:</a:t>
                </a:r>
                <a:br>
                  <a:rPr lang="en-US" dirty="0"/>
                </a:br>
                <a:r>
                  <a:rPr lang="en-US" dirty="0"/>
                  <a:t>Instead of manually querying patients and appointments, you just say:</a:t>
                </a:r>
              </a:p>
              <a:p>
                <a:pPr marL="114300" indent="0" rtl="0"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𝑑𝑜𝑐𝑡𝑜𝑟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𝐴𝑝𝑝𝑜𝑖𝑛𝑡𝑚𝑒𝑛𝑡𝑠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𝑒𝑟𝑒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=&gt;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𝐷𝑎𝑡𝑒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&gt;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𝑇𝑜𝑑𝑎𝑦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755E885-C2CF-A000-9F78-011E8B4D15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64995" y="1334149"/>
                <a:ext cx="8221855" cy="352778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8705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DAE91-327D-936F-A2C7-191FF2E93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95D61-7199-FD2B-B0EF-AC26F3A68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What is Entity Framework Core?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7D676-5752-3709-BE5B-C1DFD5EA4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334149"/>
            <a:ext cx="8221855" cy="3096601"/>
          </a:xfrm>
        </p:spPr>
        <p:txBody>
          <a:bodyPr>
            <a:normAutofit/>
          </a:bodyPr>
          <a:lstStyle/>
          <a:p>
            <a:pPr rtl="0"/>
            <a:r>
              <a:rPr lang="en-US" b="1" dirty="0"/>
              <a:t>EF Core</a:t>
            </a:r>
            <a:r>
              <a:rPr lang="en-US" dirty="0"/>
              <a:t> is Microsoft’s modern, lightweight, cross-platform </a:t>
            </a:r>
            <a:r>
              <a:rPr lang="en-US" b="1" dirty="0"/>
              <a:t>ORM</a:t>
            </a:r>
            <a:r>
              <a:rPr lang="en-US" dirty="0"/>
              <a:t>.</a:t>
            </a:r>
          </a:p>
          <a:p>
            <a:pPr rtl="0"/>
            <a:r>
              <a:rPr lang="en-US" dirty="0"/>
              <a:t>Supports </a:t>
            </a:r>
            <a:r>
              <a:rPr lang="en-US" b="1" dirty="0"/>
              <a:t>LINQ</a:t>
            </a:r>
            <a:r>
              <a:rPr lang="en-US" dirty="0"/>
              <a:t> queries, migrations, relationship mapping, etc.</a:t>
            </a:r>
          </a:p>
          <a:p>
            <a:pPr rtl="0"/>
            <a:r>
              <a:rPr lang="en-US" dirty="0"/>
              <a:t>Works with SQL Server, PostgreSQL, SQLite, and more.</a:t>
            </a:r>
          </a:p>
          <a:p>
            <a:pPr rtl="0"/>
            <a:endParaRPr lang="en-US" dirty="0"/>
          </a:p>
          <a:p>
            <a:pPr marL="114300" indent="0" rtl="0">
              <a:buNone/>
            </a:pPr>
            <a:r>
              <a:rPr lang="en-US" dirty="0"/>
              <a:t>🎯 We’ll use </a:t>
            </a:r>
            <a:r>
              <a:rPr lang="en-US" b="1" dirty="0"/>
              <a:t>EF Core</a:t>
            </a:r>
            <a:r>
              <a:rPr lang="en-US" dirty="0"/>
              <a:t> in this course to:</a:t>
            </a:r>
          </a:p>
          <a:p>
            <a:pPr lvl="1" rtl="0">
              <a:lnSpc>
                <a:spcPct val="150000"/>
              </a:lnSpc>
            </a:pPr>
            <a:r>
              <a:rPr lang="en-US" dirty="0"/>
              <a:t>Create a Patient/Doctor/Appointment schema</a:t>
            </a:r>
          </a:p>
          <a:p>
            <a:pPr lvl="1" rtl="0">
              <a:lnSpc>
                <a:spcPct val="150000"/>
              </a:lnSpc>
            </a:pPr>
            <a:r>
              <a:rPr lang="en-US" dirty="0"/>
              <a:t>Perform </a:t>
            </a:r>
            <a:r>
              <a:rPr lang="en-US" b="1" dirty="0"/>
              <a:t>CRUD</a:t>
            </a:r>
            <a:r>
              <a:rPr lang="en-US" dirty="0"/>
              <a:t> operations</a:t>
            </a:r>
          </a:p>
          <a:p>
            <a:pPr lvl="1" rtl="0">
              <a:lnSpc>
                <a:spcPct val="150000"/>
              </a:lnSpc>
            </a:pPr>
            <a:r>
              <a:rPr lang="en-US" dirty="0"/>
              <a:t>Query data using </a:t>
            </a:r>
            <a:r>
              <a:rPr lang="en-US" b="1" dirty="0"/>
              <a:t>LINQ</a:t>
            </a:r>
          </a:p>
        </p:txBody>
      </p:sp>
    </p:spTree>
    <p:extLst>
      <p:ext uri="{BB962C8B-B14F-4D97-AF65-F5344CB8AC3E}">
        <p14:creationId xmlns:p14="http://schemas.microsoft.com/office/powerpoint/2010/main" val="463325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6BACB-1981-69D0-DAED-85FCC2224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2ACE9-84E9-8965-A7C8-BD0D596BC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EF Core Architecture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86DCA9-D3E6-EFFD-16DC-B874CEC3C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334149"/>
            <a:ext cx="4913971" cy="1029910"/>
          </a:xfrm>
        </p:spPr>
        <p:txBody>
          <a:bodyPr>
            <a:normAutofit/>
          </a:bodyPr>
          <a:lstStyle/>
          <a:p>
            <a:pPr rtl="0"/>
            <a:r>
              <a:rPr lang="en-US" b="1" dirty="0"/>
              <a:t>EF Core</a:t>
            </a:r>
            <a:r>
              <a:rPr lang="en-US" dirty="0"/>
              <a:t> acts as a bridge between your application and your database.</a:t>
            </a:r>
          </a:p>
          <a:p>
            <a:pPr marL="114300" indent="0" rtl="0">
              <a:buNone/>
            </a:pP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7FC460E-2C4A-4E62-3F78-A4FEFAEF00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906696"/>
              </p:ext>
            </p:extLst>
          </p:nvPr>
        </p:nvGraphicFramePr>
        <p:xfrm>
          <a:off x="5738850" y="539750"/>
          <a:ext cx="3048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2316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95200-50B1-7162-3B64-0AD1DA370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A56F4-F356-F930-A01C-BE35877EE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ORM in Real Life – Clinic Use Case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1BC9D-A678-F6A3-6533-4E338D403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6" y="1334149"/>
            <a:ext cx="3932664" cy="3096601"/>
          </a:xfrm>
        </p:spPr>
        <p:txBody>
          <a:bodyPr/>
          <a:lstStyle/>
          <a:p>
            <a:pPr rtl="0"/>
            <a:r>
              <a:rPr lang="en-US" dirty="0"/>
              <a:t>Let’s say you’re building a clinic appointment system.</a:t>
            </a:r>
          </a:p>
          <a:p>
            <a:pPr rtl="0"/>
            <a:r>
              <a:rPr lang="en-US" dirty="0"/>
              <a:t>Entities:</a:t>
            </a:r>
            <a:endParaRPr lang="en-US" sz="1600" dirty="0"/>
          </a:p>
          <a:p>
            <a:pPr lvl="1" rtl="0">
              <a:lnSpc>
                <a:spcPct val="150000"/>
              </a:lnSpc>
            </a:pPr>
            <a:r>
              <a:rPr lang="en-US" sz="1600" dirty="0"/>
              <a:t>Doctor</a:t>
            </a:r>
          </a:p>
          <a:p>
            <a:pPr lvl="1" rtl="0">
              <a:lnSpc>
                <a:spcPct val="150000"/>
              </a:lnSpc>
            </a:pPr>
            <a:r>
              <a:rPr lang="en-US" sz="1600" dirty="0"/>
              <a:t>Patient</a:t>
            </a:r>
          </a:p>
          <a:p>
            <a:pPr lvl="1" rtl="0">
              <a:lnSpc>
                <a:spcPct val="150000"/>
              </a:lnSpc>
            </a:pPr>
            <a:r>
              <a:rPr lang="en-US" sz="1600" dirty="0"/>
              <a:t>Appointment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45AFB30-D05B-769C-CBA3-1379A2257A77}"/>
              </a:ext>
            </a:extLst>
          </p:cNvPr>
          <p:cNvSpPr txBox="1">
            <a:spLocks/>
          </p:cNvSpPr>
          <p:nvPr/>
        </p:nvSpPr>
        <p:spPr>
          <a:xfrm>
            <a:off x="4572000" y="1334149"/>
            <a:ext cx="3932664" cy="3096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IBM Plex Sans Arabic"/>
              <a:buChar char="●"/>
              <a:defRPr sz="18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marR="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marR="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marR="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marR="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marR="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marR="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marR="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marR="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pPr rtl="0"/>
            <a:r>
              <a:rPr lang="en-US" b="1" dirty="0"/>
              <a:t>EF Core</a:t>
            </a:r>
            <a:r>
              <a:rPr lang="en-US" dirty="0"/>
              <a:t> helps you:</a:t>
            </a:r>
            <a:endParaRPr lang="en-US" sz="1600" dirty="0"/>
          </a:p>
          <a:p>
            <a:pPr lvl="1" rtl="0">
              <a:lnSpc>
                <a:spcPct val="150000"/>
              </a:lnSpc>
            </a:pPr>
            <a:r>
              <a:rPr lang="en-US" sz="1600" dirty="0"/>
              <a:t>Save new appointments</a:t>
            </a:r>
          </a:p>
          <a:p>
            <a:pPr lvl="1" rtl="0">
              <a:lnSpc>
                <a:spcPct val="150000"/>
              </a:lnSpc>
            </a:pPr>
            <a:r>
              <a:rPr lang="en-US" sz="1600" dirty="0"/>
              <a:t>Link patients to doctors</a:t>
            </a:r>
          </a:p>
          <a:p>
            <a:pPr lvl="1" rtl="0">
              <a:lnSpc>
                <a:spcPct val="150000"/>
              </a:lnSpc>
            </a:pPr>
            <a:r>
              <a:rPr lang="en-US" sz="1600" dirty="0"/>
              <a:t>Retrieve upcoming visits with just a few lines of C# code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25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AD049-6A28-9DC4-7C8F-CA9902FFF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35E57-E805-E54B-1CFE-15261CD07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Alternatives to EF Core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05EA14-BB63-BE3E-ACD7-6CF8B6387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334149"/>
            <a:ext cx="8221855" cy="3096601"/>
          </a:xfrm>
        </p:spPr>
        <p:txBody>
          <a:bodyPr>
            <a:normAutofit/>
          </a:bodyPr>
          <a:lstStyle/>
          <a:p>
            <a:pPr marL="114300" indent="0" rtl="0">
              <a:buNone/>
            </a:pPr>
            <a:r>
              <a:rPr lang="en-US" dirty="0"/>
              <a:t>While </a:t>
            </a:r>
            <a:r>
              <a:rPr lang="en-US" b="1" dirty="0"/>
              <a:t>EF Core</a:t>
            </a:r>
            <a:r>
              <a:rPr lang="en-US" dirty="0"/>
              <a:t> is great, other </a:t>
            </a:r>
            <a:r>
              <a:rPr lang="en-US" b="1" dirty="0"/>
              <a:t>ORM</a:t>
            </a:r>
            <a:r>
              <a:rPr lang="en-US" dirty="0"/>
              <a:t>s exist:</a:t>
            </a:r>
          </a:p>
          <a:p>
            <a:pPr rtl="0"/>
            <a:r>
              <a:rPr lang="en-US" dirty="0"/>
              <a:t>Dapper (lightweight, faster)</a:t>
            </a:r>
          </a:p>
          <a:p>
            <a:pPr rtl="0"/>
            <a:r>
              <a:rPr lang="en-US" dirty="0"/>
              <a:t>NHibernate (older, powerful)</a:t>
            </a:r>
          </a:p>
          <a:p>
            <a:pPr rtl="0"/>
            <a:r>
              <a:rPr lang="en-US" dirty="0"/>
              <a:t>ADO.NET (manual, low-level)</a:t>
            </a:r>
          </a:p>
          <a:p>
            <a:pPr marL="114300" indent="0" rtl="0">
              <a:buNone/>
            </a:pPr>
            <a:endParaRPr lang="en-US" dirty="0"/>
          </a:p>
          <a:p>
            <a:pPr marL="114300" indent="0" rtl="0">
              <a:buNone/>
            </a:pPr>
            <a:r>
              <a:rPr lang="en-US" dirty="0"/>
              <a:t>But:</a:t>
            </a:r>
            <a:br>
              <a:rPr lang="en-US" dirty="0"/>
            </a:br>
            <a:r>
              <a:rPr lang="en-US" dirty="0"/>
              <a:t>🔷 </a:t>
            </a:r>
            <a:r>
              <a:rPr lang="en-US" b="1" dirty="0"/>
              <a:t>EF Core</a:t>
            </a:r>
            <a:r>
              <a:rPr lang="en-US" dirty="0"/>
              <a:t> = best choice for ASP.NET Core projects</a:t>
            </a:r>
            <a:br>
              <a:rPr lang="en-US" dirty="0"/>
            </a:br>
            <a:r>
              <a:rPr lang="en-US" sz="1400" i="1" dirty="0">
                <a:latin typeface="Segoe UI Light" panose="020B0502040204020203" pitchFamily="34" charset="0"/>
                <a:cs typeface="Segoe UI Light" panose="020B0502040204020203" pitchFamily="34" charset="0"/>
              </a:rPr>
              <a:t>→ Because it's fully integrated, actively supported by Microsoft, and designed to work seamlessly with ASP.NET Core’s modern architecture.</a:t>
            </a:r>
            <a:endParaRPr lang="en-US" i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3395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>
          <a:extLst>
            <a:ext uri="{FF2B5EF4-FFF2-40B4-BE49-F238E27FC236}">
              <a16:creationId xmlns:a16="http://schemas.microsoft.com/office/drawing/2014/main" id="{A6B07E27-0547-067D-0B76-8594E16D3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>
            <a:extLst>
              <a:ext uri="{FF2B5EF4-FFF2-40B4-BE49-F238E27FC236}">
                <a16:creationId xmlns:a16="http://schemas.microsoft.com/office/drawing/2014/main" id="{0EAEDE59-6F50-60E8-753E-19F958357F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27261" y="1590000"/>
            <a:ext cx="7354175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4800" b="1" dirty="0">
                <a:solidFill>
                  <a:srgbClr val="EEEDED"/>
                </a:solidFill>
              </a:rPr>
              <a:t>EF Core Approaches</a:t>
            </a:r>
            <a:endParaRPr sz="4800" b="1" dirty="0">
              <a:solidFill>
                <a:srgbClr val="58E3D8"/>
              </a:solidFill>
              <a:latin typeface="IBM Plex Sans Arabic SemiBold"/>
              <a:cs typeface="IBM Plex Sans Arabic SemiBold"/>
            </a:endParaRPr>
          </a:p>
        </p:txBody>
      </p:sp>
      <p:sp>
        <p:nvSpPr>
          <p:cNvPr id="2" name="Google Shape;73;p5">
            <a:extLst>
              <a:ext uri="{FF2B5EF4-FFF2-40B4-BE49-F238E27FC236}">
                <a16:creationId xmlns:a16="http://schemas.microsoft.com/office/drawing/2014/main" id="{E64561D0-1C1B-606F-DCF3-CC9AD6737ED1}"/>
              </a:ext>
            </a:extLst>
          </p:cNvPr>
          <p:cNvSpPr txBox="1">
            <a:spLocks/>
          </p:cNvSpPr>
          <p:nvPr/>
        </p:nvSpPr>
        <p:spPr>
          <a:xfrm>
            <a:off x="2080260" y="2686691"/>
            <a:ext cx="5783956" cy="101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12000"/>
              <a:buFont typeface="IBM Plex Sans Arabic Medium"/>
              <a:buNone/>
              <a:defRPr sz="12000" b="0" i="0" u="none" strike="noStrike" cap="none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marR="0"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IBM Plex Sans Medium"/>
              <a:buNone/>
              <a:defRPr sz="120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marR="0"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IBM Plex Sans Medium"/>
              <a:buNone/>
              <a:defRPr sz="120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marR="0"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IBM Plex Sans Medium"/>
              <a:buNone/>
              <a:defRPr sz="120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marR="0"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IBM Plex Sans Medium"/>
              <a:buNone/>
              <a:defRPr sz="120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marR="0"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IBM Plex Sans Medium"/>
              <a:buNone/>
              <a:defRPr sz="120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marR="0"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IBM Plex Sans Medium"/>
              <a:buNone/>
              <a:defRPr sz="120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marR="0"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IBM Plex Sans Medium"/>
              <a:buNone/>
              <a:defRPr sz="120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marR="0"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IBM Plex Sans Medium"/>
              <a:buNone/>
              <a:defRPr sz="120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pPr rtl="0">
              <a:buClr>
                <a:schemeClr val="dk1"/>
              </a:buClr>
              <a:buSzPts val="990"/>
              <a:buFont typeface="Arial"/>
              <a:buNone/>
            </a:pPr>
            <a:r>
              <a:rPr lang="en-US" sz="2800" b="1" dirty="0">
                <a:solidFill>
                  <a:srgbClr val="EEEDED"/>
                </a:solidFill>
              </a:rPr>
              <a:t>📌 Code First vs. Database First</a:t>
            </a:r>
            <a:endParaRPr lang="en-US" sz="2800" b="1" dirty="0">
              <a:solidFill>
                <a:srgbClr val="58E3D8"/>
              </a:solidFill>
              <a:latin typeface="IBM Plex Sans Arabic SemiBold"/>
              <a:cs typeface="IBM Plex Sans Arabic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993223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C6B76-765E-431D-B2C4-22D44DFF7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644B9-1180-2749-01A1-E51B068D7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Learning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DB6A4-8022-0378-7757-6F3B6E5B6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334149"/>
            <a:ext cx="8221855" cy="3096601"/>
          </a:xfrm>
        </p:spPr>
        <p:txBody>
          <a:bodyPr/>
          <a:lstStyle/>
          <a:p>
            <a:pPr rtl="0"/>
            <a:r>
              <a:rPr lang="en-US" dirty="0"/>
              <a:t>By the end of this lesson, you will:</a:t>
            </a:r>
          </a:p>
          <a:p>
            <a:pPr lvl="1" rtl="0">
              <a:lnSpc>
                <a:spcPct val="200000"/>
              </a:lnSpc>
            </a:pPr>
            <a:r>
              <a:rPr lang="en-US" sz="1600" dirty="0"/>
              <a:t>Understand the difference between Code First and Database First.</a:t>
            </a:r>
          </a:p>
          <a:p>
            <a:pPr lvl="1" rtl="0">
              <a:lnSpc>
                <a:spcPct val="200000"/>
              </a:lnSpc>
            </a:pPr>
            <a:r>
              <a:rPr lang="en-US" dirty="0"/>
              <a:t>Know when to use each approach.</a:t>
            </a:r>
          </a:p>
          <a:p>
            <a:pPr lvl="1" rtl="0">
              <a:lnSpc>
                <a:spcPct val="200000"/>
              </a:lnSpc>
            </a:pPr>
            <a:r>
              <a:rPr lang="en-US" dirty="0"/>
              <a:t>Identify the best choice for new ASP.NET 8 projects.</a:t>
            </a:r>
          </a:p>
          <a:p>
            <a:pPr lvl="1" rtl="0">
              <a:lnSpc>
                <a:spcPct val="200000"/>
              </a:lnSpc>
            </a:pPr>
            <a:r>
              <a:rPr lang="en-US" dirty="0"/>
              <a:t>Prepare your project for Code First development.</a:t>
            </a:r>
          </a:p>
        </p:txBody>
      </p:sp>
    </p:spTree>
    <p:extLst>
      <p:ext uri="{BB962C8B-B14F-4D97-AF65-F5344CB8AC3E}">
        <p14:creationId xmlns:p14="http://schemas.microsoft.com/office/powerpoint/2010/main" val="970247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80A1E-4358-A2AB-BCD0-19FD84233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C9238-3723-66BF-6DD4-D8D2E2FE8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What Are EF Core Approaches?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1788D-ED8A-59C3-4502-72007D80C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334149"/>
            <a:ext cx="8221855" cy="1081949"/>
          </a:xfrm>
        </p:spPr>
        <p:txBody>
          <a:bodyPr>
            <a:normAutofit/>
          </a:bodyPr>
          <a:lstStyle/>
          <a:p>
            <a:pPr rtl="0"/>
            <a:r>
              <a:rPr lang="en-US" b="1" dirty="0"/>
              <a:t>Entity Framework Core</a:t>
            </a:r>
            <a:r>
              <a:rPr lang="en-US" dirty="0"/>
              <a:t> offers two primary ways to work with the database: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BA05C84-D7A0-D847-4A02-3570922261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572638"/>
              </p:ext>
            </p:extLst>
          </p:nvPr>
        </p:nvGraphicFramePr>
        <p:xfrm>
          <a:off x="505522" y="2727403"/>
          <a:ext cx="8281329" cy="137160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760443">
                  <a:extLst>
                    <a:ext uri="{9D8B030D-6E8A-4147-A177-3AD203B41FA5}">
                      <a16:colId xmlns:a16="http://schemas.microsoft.com/office/drawing/2014/main" val="3637273403"/>
                    </a:ext>
                  </a:extLst>
                </a:gridCol>
                <a:gridCol w="2760443">
                  <a:extLst>
                    <a:ext uri="{9D8B030D-6E8A-4147-A177-3AD203B41FA5}">
                      <a16:colId xmlns:a16="http://schemas.microsoft.com/office/drawing/2014/main" val="2313077462"/>
                    </a:ext>
                  </a:extLst>
                </a:gridCol>
                <a:gridCol w="2760443">
                  <a:extLst>
                    <a:ext uri="{9D8B030D-6E8A-4147-A177-3AD203B41FA5}">
                      <a16:colId xmlns:a16="http://schemas.microsoft.com/office/drawing/2014/main" val="147139483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Approach</a:t>
                      </a:r>
                    </a:p>
                  </a:txBody>
                  <a:tcPr anchor="ctr">
                    <a:solidFill>
                      <a:srgbClr val="5431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Starts From</a:t>
                      </a:r>
                    </a:p>
                  </a:txBody>
                  <a:tcPr anchor="ctr">
                    <a:solidFill>
                      <a:srgbClr val="5431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Tools Used</a:t>
                      </a:r>
                    </a:p>
                  </a:txBody>
                  <a:tcPr anchor="ctr">
                    <a:solidFill>
                      <a:srgbClr val="5431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8714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🟩 Code First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C# Classes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Visual Studio, Migrations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59129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🟦 Database First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Existing 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EF Tools: Scaffold-</a:t>
                      </a:r>
                      <a:r>
                        <a:rPr lang="en-US" sz="1400" dirty="0" err="1"/>
                        <a:t>DbContext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474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26057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6ED64-6AEC-D459-3E3A-2273242D7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C7DBE-A726-3D18-6B23-4B97972FF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Database First Approach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BA42C8-D4C5-E582-33D6-F7068ABA7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334149"/>
            <a:ext cx="8221855" cy="3096601"/>
          </a:xfrm>
        </p:spPr>
        <p:txBody>
          <a:bodyPr/>
          <a:lstStyle/>
          <a:p>
            <a:pPr rtl="0">
              <a:spcBef>
                <a:spcPts val="1200"/>
              </a:spcBef>
            </a:pPr>
            <a:r>
              <a:rPr lang="en-US" dirty="0"/>
              <a:t>You start from an </a:t>
            </a:r>
            <a:r>
              <a:rPr lang="en-US" b="1" dirty="0"/>
              <a:t>existing SQL database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then </a:t>
            </a:r>
            <a:r>
              <a:rPr lang="en-US" b="1" dirty="0"/>
              <a:t>scaffold C# classes</a:t>
            </a:r>
            <a:r>
              <a:rPr lang="en-US" dirty="0"/>
              <a:t> from it.</a:t>
            </a:r>
          </a:p>
          <a:p>
            <a:pPr marL="114300" indent="0" rtl="0">
              <a:spcBef>
                <a:spcPts val="1200"/>
              </a:spcBef>
              <a:buNone/>
            </a:pPr>
            <a:r>
              <a:rPr lang="en-US" dirty="0"/>
              <a:t>✅ Good for:</a:t>
            </a:r>
          </a:p>
          <a:p>
            <a:pPr lvl="1" rtl="0">
              <a:spcBef>
                <a:spcPts val="1200"/>
              </a:spcBef>
            </a:pPr>
            <a:r>
              <a:rPr lang="en-US" dirty="0"/>
              <a:t>Legacy systems</a:t>
            </a:r>
          </a:p>
          <a:p>
            <a:pPr lvl="1" rtl="0">
              <a:spcBef>
                <a:spcPts val="1200"/>
              </a:spcBef>
            </a:pPr>
            <a:r>
              <a:rPr lang="en-US" dirty="0"/>
              <a:t>Big existing databases</a:t>
            </a:r>
          </a:p>
          <a:p>
            <a:pPr marL="114300" indent="0" rtl="0">
              <a:spcBef>
                <a:spcPts val="1200"/>
              </a:spcBef>
              <a:buNone/>
            </a:pPr>
            <a:r>
              <a:rPr lang="en-US" dirty="0"/>
              <a:t>⛔ Not flexible for evolving designs</a:t>
            </a:r>
          </a:p>
        </p:txBody>
      </p:sp>
    </p:spTree>
    <p:extLst>
      <p:ext uri="{BB962C8B-B14F-4D97-AF65-F5344CB8AC3E}">
        <p14:creationId xmlns:p14="http://schemas.microsoft.com/office/powerpoint/2010/main" val="21071488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3A665-625F-E253-7F99-BE0759AD8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286CA-0521-9294-4C30-C226CE5BB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Database First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FAAA8-9DC3-9337-5037-606752D0F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334149"/>
            <a:ext cx="8221855" cy="3096601"/>
          </a:xfrm>
        </p:spPr>
        <p:txBody>
          <a:bodyPr/>
          <a:lstStyle/>
          <a:p>
            <a:pPr marL="114300" indent="0" rtl="0">
              <a:spcBef>
                <a:spcPts val="1200"/>
              </a:spcBef>
              <a:buNone/>
            </a:pPr>
            <a:r>
              <a:rPr lang="en-US" dirty="0"/>
              <a:t>👨‍⚕️ Imports tables like </a:t>
            </a:r>
            <a:r>
              <a:rPr lang="en-US" i="1" dirty="0">
                <a:latin typeface="Segoe UI Variable Text Semibold" pitchFamily="2" charset="0"/>
              </a:rPr>
              <a:t>Patient</a:t>
            </a:r>
            <a:r>
              <a:rPr lang="en-US" dirty="0"/>
              <a:t>, </a:t>
            </a:r>
            <a:r>
              <a:rPr lang="en-US" i="1" dirty="0">
                <a:latin typeface="Segoe UI Variable Text Semibold" pitchFamily="2" charset="0"/>
              </a:rPr>
              <a:t>Appointment</a:t>
            </a:r>
            <a:r>
              <a:rPr lang="en-US" dirty="0"/>
              <a:t>, </a:t>
            </a:r>
            <a:r>
              <a:rPr lang="en-US" i="1" dirty="0">
                <a:latin typeface="Segoe UI Variable Text Semibold" pitchFamily="2" charset="0"/>
              </a:rPr>
              <a:t>Doctor</a:t>
            </a:r>
            <a:r>
              <a:rPr lang="en-US" dirty="0"/>
              <a:t> as C# classes</a:t>
            </a:r>
          </a:p>
          <a:p>
            <a:pPr marL="114300" indent="0" rtl="0">
              <a:spcBef>
                <a:spcPts val="1200"/>
              </a:spcBef>
              <a:buNone/>
            </a:pPr>
            <a:r>
              <a:rPr lang="en-US" i="1" dirty="0">
                <a:latin typeface="Segoe UI Light" panose="020B0502040204020203" pitchFamily="34" charset="0"/>
                <a:cs typeface="Segoe UI Light" panose="020B0502040204020203" pitchFamily="34" charset="0"/>
              </a:rPr>
              <a:t>Scaffold-</a:t>
            </a:r>
            <a:r>
              <a:rPr lang="en-US" i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DbContext</a:t>
            </a:r>
            <a:r>
              <a:rPr lang="en-US" i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"your-connection-string" </a:t>
            </a:r>
            <a:r>
              <a:rPr lang="en-US" i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Microsoft.EntityFrameworkCore.SqlServer</a:t>
            </a:r>
            <a:r>
              <a:rPr lang="en-US" i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-</a:t>
            </a:r>
            <a:r>
              <a:rPr lang="en-US" i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OutputDir</a:t>
            </a:r>
            <a:r>
              <a:rPr lang="en-US" i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Models</a:t>
            </a:r>
          </a:p>
          <a:p>
            <a:pPr marL="114300" indent="0" rtl="0">
              <a:spcBef>
                <a:spcPts val="1200"/>
              </a:spcBef>
              <a:buNone/>
            </a:pPr>
            <a:r>
              <a:rPr lang="en-US" dirty="0"/>
              <a:t>🧩 Required Libraries (NuGet):</a:t>
            </a:r>
          </a:p>
          <a:p>
            <a:pPr lvl="1" rtl="0">
              <a:lnSpc>
                <a:spcPct val="100000"/>
              </a:lnSpc>
              <a:spcBef>
                <a:spcPts val="1200"/>
              </a:spcBef>
            </a:pPr>
            <a:r>
              <a:rPr lang="en-US" dirty="0" err="1"/>
              <a:t>Microsoft.EntityFrameworkCore.SqlServer</a:t>
            </a:r>
            <a:endParaRPr lang="en-US" dirty="0"/>
          </a:p>
          <a:p>
            <a:pPr lvl="1" rtl="0">
              <a:lnSpc>
                <a:spcPct val="100000"/>
              </a:lnSpc>
              <a:spcBef>
                <a:spcPts val="1200"/>
              </a:spcBef>
            </a:pPr>
            <a:r>
              <a:rPr lang="en-US" dirty="0" err="1"/>
              <a:t>Microsoft.EntityFrameworkCore.Tools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095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CBEE3-6C65-AFEB-E98D-CE34D9738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6C3D4-0011-2044-BE56-0A8D0CBDD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Code First Approach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A094F4-5FD4-CC1B-7F1A-897192B7A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334149"/>
            <a:ext cx="8221855" cy="3096601"/>
          </a:xfrm>
        </p:spPr>
        <p:txBody>
          <a:bodyPr>
            <a:normAutofit fontScale="92500" lnSpcReduction="20000"/>
          </a:bodyPr>
          <a:lstStyle/>
          <a:p>
            <a:pPr rtl="0">
              <a:spcBef>
                <a:spcPts val="1200"/>
              </a:spcBef>
            </a:pPr>
            <a:r>
              <a:rPr lang="en-US" dirty="0"/>
              <a:t>You start by writing </a:t>
            </a:r>
            <a:r>
              <a:rPr lang="en-US" b="1" dirty="0"/>
              <a:t>C# classes</a:t>
            </a:r>
            <a:r>
              <a:rPr lang="en-US" dirty="0"/>
              <a:t> (entities), then </a:t>
            </a:r>
            <a:r>
              <a:rPr lang="en-US" b="1" dirty="0"/>
              <a:t>generate the database schema</a:t>
            </a:r>
            <a:r>
              <a:rPr lang="en-US" dirty="0"/>
              <a:t>.</a:t>
            </a:r>
          </a:p>
          <a:p>
            <a:pPr marL="114300" indent="0" rtl="0">
              <a:spcBef>
                <a:spcPts val="1200"/>
              </a:spcBef>
              <a:buNone/>
            </a:pPr>
            <a:r>
              <a:rPr lang="en-US" dirty="0"/>
              <a:t>✅ Good for:</a:t>
            </a:r>
          </a:p>
          <a:p>
            <a:pPr lvl="1" rtl="0">
              <a:spcBef>
                <a:spcPts val="1200"/>
              </a:spcBef>
            </a:pPr>
            <a:r>
              <a:rPr lang="en-US" dirty="0"/>
              <a:t>New projects</a:t>
            </a:r>
          </a:p>
          <a:p>
            <a:pPr lvl="1" rtl="0">
              <a:spcBef>
                <a:spcPts val="1200"/>
              </a:spcBef>
            </a:pPr>
            <a:r>
              <a:rPr lang="en-US" dirty="0"/>
              <a:t>Agile development</a:t>
            </a:r>
          </a:p>
          <a:p>
            <a:pPr lvl="1" rtl="0">
              <a:spcBef>
                <a:spcPts val="1200"/>
              </a:spcBef>
            </a:pPr>
            <a:r>
              <a:rPr lang="en-US" dirty="0"/>
              <a:t>Git versioning</a:t>
            </a:r>
          </a:p>
          <a:p>
            <a:pPr lvl="1" rtl="0">
              <a:spcBef>
                <a:spcPts val="1200"/>
              </a:spcBef>
            </a:pPr>
            <a:r>
              <a:rPr lang="en-US" dirty="0"/>
              <a:t>Building from domain models</a:t>
            </a:r>
          </a:p>
          <a:p>
            <a:pPr marL="114300" indent="0" rtl="0">
              <a:spcBef>
                <a:spcPts val="1200"/>
              </a:spcBef>
              <a:buNone/>
            </a:pPr>
            <a:r>
              <a:rPr lang="en-US" dirty="0"/>
              <a:t>💡 We'll use this in the course.</a:t>
            </a:r>
          </a:p>
        </p:txBody>
      </p:sp>
    </p:spTree>
    <p:extLst>
      <p:ext uri="{BB962C8B-B14F-4D97-AF65-F5344CB8AC3E}">
        <p14:creationId xmlns:p14="http://schemas.microsoft.com/office/powerpoint/2010/main" val="13000239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71D16-48F7-2610-06F4-191CCF6EC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AFB30-10AC-8728-FD1D-C05347A8B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Code First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AE4D6C-0924-245A-AFB4-BDCADCAD1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892189"/>
            <a:ext cx="8221855" cy="723963"/>
          </a:xfrm>
        </p:spPr>
        <p:txBody>
          <a:bodyPr/>
          <a:lstStyle/>
          <a:p>
            <a:pPr marL="114300" indent="0" rtl="0">
              <a:spcBef>
                <a:spcPts val="1200"/>
              </a:spcBef>
              <a:buNone/>
            </a:pPr>
            <a:r>
              <a:rPr lang="en-US" dirty="0"/>
              <a:t>🎯 Database gets created automatically!</a:t>
            </a:r>
          </a:p>
          <a:p>
            <a:pPr marL="114300" indent="0" rtl="0">
              <a:spcBef>
                <a:spcPts val="1200"/>
              </a:spcBef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11E92E-36BE-90BB-2507-4B02EDFE4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647" y="1914519"/>
            <a:ext cx="2819644" cy="13412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253C3E-BCB3-5BC2-0289-5ED2E9754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4783" y="1945889"/>
            <a:ext cx="1806097" cy="723963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E6A4293-1D41-F46D-8AE6-F8304180B426}"/>
              </a:ext>
            </a:extLst>
          </p:cNvPr>
          <p:cNvSpPr txBox="1">
            <a:spLocks/>
          </p:cNvSpPr>
          <p:nvPr/>
        </p:nvSpPr>
        <p:spPr>
          <a:xfrm>
            <a:off x="564995" y="1312985"/>
            <a:ext cx="3850888" cy="72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IBM Plex Sans Arabic"/>
              <a:buChar char="●"/>
              <a:defRPr sz="18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marR="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marR="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marR="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marR="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marR="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marR="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marR="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marR="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pPr marL="114300" indent="0" rtl="0">
              <a:spcBef>
                <a:spcPts val="1200"/>
              </a:spcBef>
              <a:buFont typeface="IBM Plex Sans Arabic"/>
              <a:buNone/>
            </a:pPr>
            <a:r>
              <a:rPr lang="en-US" dirty="0"/>
              <a:t>1. Create entity &amp; </a:t>
            </a:r>
            <a:r>
              <a:rPr lang="en-US" dirty="0" err="1"/>
              <a:t>DbContext</a:t>
            </a:r>
            <a:r>
              <a:rPr lang="en-US" dirty="0"/>
              <a:t> classes</a:t>
            </a:r>
          </a:p>
          <a:p>
            <a:pPr marL="114300" indent="0" rtl="0">
              <a:spcBef>
                <a:spcPts val="1200"/>
              </a:spcBef>
              <a:buFont typeface="IBM Plex Sans Arabic"/>
              <a:buNone/>
            </a:pP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EA6CA89-BA5E-26D6-BAD6-927FAC188EE1}"/>
              </a:ext>
            </a:extLst>
          </p:cNvPr>
          <p:cNvSpPr txBox="1">
            <a:spLocks/>
          </p:cNvSpPr>
          <p:nvPr/>
        </p:nvSpPr>
        <p:spPr>
          <a:xfrm>
            <a:off x="5011300" y="1312985"/>
            <a:ext cx="3750327" cy="72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IBM Plex Sans Arabic"/>
              <a:buChar char="●"/>
              <a:defRPr sz="18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marR="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marR="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marR="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marR="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marR="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marR="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marR="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marR="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pPr marL="114300" indent="0" rtl="0">
              <a:spcBef>
                <a:spcPts val="1200"/>
              </a:spcBef>
              <a:buFont typeface="IBM Plex Sans Arabic"/>
              <a:buNone/>
            </a:pPr>
            <a:r>
              <a:rPr lang="en-US" dirty="0"/>
              <a:t>2. Run Command in PM Console</a:t>
            </a:r>
          </a:p>
          <a:p>
            <a:pPr marL="114300" indent="0" rtl="0">
              <a:spcBef>
                <a:spcPts val="1200"/>
              </a:spcBef>
              <a:buFont typeface="IBM Plex Sans Arabic"/>
              <a:buNone/>
            </a:pP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B762BEB-63F7-66B3-857D-A5ADC50BD6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647" y="3263056"/>
            <a:ext cx="5601185" cy="182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8513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589C8-0BC6-6C17-A180-8B84BC697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6CD8F-8A67-13C7-3795-3D2634106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Which One to Choose?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6153DA-13FB-E74A-442D-37ABF023D4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334149"/>
            <a:ext cx="8221855" cy="1081949"/>
          </a:xfrm>
        </p:spPr>
        <p:txBody>
          <a:bodyPr>
            <a:normAutofit/>
          </a:bodyPr>
          <a:lstStyle/>
          <a:p>
            <a:pPr marL="114300" indent="0" rtl="0">
              <a:buNone/>
            </a:pPr>
            <a:r>
              <a:rPr lang="en-US" dirty="0"/>
              <a:t>🎯 Use </a:t>
            </a:r>
            <a:r>
              <a:rPr lang="en-US" b="1" dirty="0"/>
              <a:t>Code First</a:t>
            </a:r>
            <a:r>
              <a:rPr lang="en-US" dirty="0"/>
              <a:t> if:</a:t>
            </a:r>
          </a:p>
          <a:p>
            <a:pPr lvl="1" rtl="0"/>
            <a:r>
              <a:rPr lang="en-US" dirty="0"/>
              <a:t>You’re starting a new ASP.NET 8 project</a:t>
            </a:r>
          </a:p>
          <a:p>
            <a:pPr lvl="1" rtl="0"/>
            <a:r>
              <a:rPr lang="en-US" dirty="0"/>
              <a:t>You want full control over design and evolution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A7C3A24-AB23-87F8-57AD-EEF674C005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720524"/>
              </p:ext>
            </p:extLst>
          </p:nvPr>
        </p:nvGraphicFramePr>
        <p:xfrm>
          <a:off x="1204332" y="2571750"/>
          <a:ext cx="6735336" cy="228600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3033132">
                  <a:extLst>
                    <a:ext uri="{9D8B030D-6E8A-4147-A177-3AD203B41FA5}">
                      <a16:colId xmlns:a16="http://schemas.microsoft.com/office/drawing/2014/main" val="2005682226"/>
                    </a:ext>
                  </a:extLst>
                </a:gridCol>
                <a:gridCol w="1940312">
                  <a:extLst>
                    <a:ext uri="{9D8B030D-6E8A-4147-A177-3AD203B41FA5}">
                      <a16:colId xmlns:a16="http://schemas.microsoft.com/office/drawing/2014/main" val="579009293"/>
                    </a:ext>
                  </a:extLst>
                </a:gridCol>
                <a:gridCol w="1761892">
                  <a:extLst>
                    <a:ext uri="{9D8B030D-6E8A-4147-A177-3AD203B41FA5}">
                      <a16:colId xmlns:a16="http://schemas.microsoft.com/office/drawing/2014/main" val="8688215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Feature</a:t>
                      </a:r>
                    </a:p>
                  </a:txBody>
                  <a:tcPr anchor="ctr">
                    <a:solidFill>
                      <a:srgbClr val="5431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Code First</a:t>
                      </a:r>
                    </a:p>
                  </a:txBody>
                  <a:tcPr anchor="ctr">
                    <a:solidFill>
                      <a:srgbClr val="5431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Database First</a:t>
                      </a:r>
                    </a:p>
                  </a:txBody>
                  <a:tcPr anchor="ctr">
                    <a:solidFill>
                      <a:srgbClr val="5431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53292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Agile &amp; modern dev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953402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Reverse engineering existing 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435095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Better for teams &amp; Git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7792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Used in this course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1759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25494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>
          <a:extLst>
            <a:ext uri="{FF2B5EF4-FFF2-40B4-BE49-F238E27FC236}">
              <a16:creationId xmlns:a16="http://schemas.microsoft.com/office/drawing/2014/main" id="{2CF4BEF3-5164-4CFD-4AAB-55F0421C0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>
            <a:extLst>
              <a:ext uri="{FF2B5EF4-FFF2-40B4-BE49-F238E27FC236}">
                <a16:creationId xmlns:a16="http://schemas.microsoft.com/office/drawing/2014/main" id="{FA3E8954-1FD4-B130-B8E9-D463C7E911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27261" y="1590000"/>
            <a:ext cx="7354175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4800" b="1" dirty="0">
                <a:solidFill>
                  <a:srgbClr val="EEEDED"/>
                </a:solidFill>
              </a:rPr>
              <a:t>Modeling with </a:t>
            </a:r>
            <a:r>
              <a:rPr lang="en-US" sz="4800" b="1" dirty="0">
                <a:solidFill>
                  <a:srgbClr val="58E3D8"/>
                </a:solidFill>
              </a:rPr>
              <a:t>EF Core</a:t>
            </a:r>
            <a:endParaRPr sz="4800" b="1" dirty="0">
              <a:solidFill>
                <a:srgbClr val="58E3D8"/>
              </a:solidFill>
              <a:latin typeface="IBM Plex Sans Arabic SemiBold"/>
              <a:cs typeface="IBM Plex Sans Arabic SemiBold"/>
            </a:endParaRPr>
          </a:p>
        </p:txBody>
      </p:sp>
      <p:sp>
        <p:nvSpPr>
          <p:cNvPr id="2" name="Google Shape;73;p5">
            <a:extLst>
              <a:ext uri="{FF2B5EF4-FFF2-40B4-BE49-F238E27FC236}">
                <a16:creationId xmlns:a16="http://schemas.microsoft.com/office/drawing/2014/main" id="{F5B6B09F-636D-019A-B194-C4E85DF86029}"/>
              </a:ext>
            </a:extLst>
          </p:cNvPr>
          <p:cNvSpPr txBox="1">
            <a:spLocks/>
          </p:cNvSpPr>
          <p:nvPr/>
        </p:nvSpPr>
        <p:spPr>
          <a:xfrm>
            <a:off x="1806498" y="2686691"/>
            <a:ext cx="6057718" cy="101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12000"/>
              <a:buFont typeface="IBM Plex Sans Arabic Medium"/>
              <a:buNone/>
              <a:defRPr sz="12000" b="0" i="0" u="none" strike="noStrike" cap="none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marR="0"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IBM Plex Sans Medium"/>
              <a:buNone/>
              <a:defRPr sz="120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marR="0"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IBM Plex Sans Medium"/>
              <a:buNone/>
              <a:defRPr sz="120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marR="0"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IBM Plex Sans Medium"/>
              <a:buNone/>
              <a:defRPr sz="120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marR="0"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IBM Plex Sans Medium"/>
              <a:buNone/>
              <a:defRPr sz="120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marR="0"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IBM Plex Sans Medium"/>
              <a:buNone/>
              <a:defRPr sz="120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marR="0"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IBM Plex Sans Medium"/>
              <a:buNone/>
              <a:defRPr sz="120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marR="0"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IBM Plex Sans Medium"/>
              <a:buNone/>
              <a:defRPr sz="120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marR="0"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IBM Plex Sans Medium"/>
              <a:buNone/>
              <a:defRPr sz="120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pPr rtl="0">
              <a:buClr>
                <a:schemeClr val="dk1"/>
              </a:buClr>
              <a:buSzPts val="990"/>
              <a:buFont typeface="Arial"/>
              <a:buNone/>
            </a:pPr>
            <a:r>
              <a:rPr lang="en-US" sz="2800" b="1" dirty="0">
                <a:solidFill>
                  <a:srgbClr val="EEEDED"/>
                </a:solidFill>
              </a:rPr>
              <a:t>📌 Data Annotations vs Fluent API</a:t>
            </a:r>
            <a:endParaRPr lang="en-US" sz="2800" b="1" dirty="0">
              <a:solidFill>
                <a:srgbClr val="58E3D8"/>
              </a:solidFill>
              <a:latin typeface="IBM Plex Sans Arabic SemiBold"/>
              <a:cs typeface="IBM Plex Sans Arabic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7242691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31E5D-7586-629C-9635-89A9D7F3B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43955-597E-B699-05FA-F57CC5D12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Learning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295EAF-8706-607D-862A-A7F20CEDD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334149"/>
            <a:ext cx="8221855" cy="3096601"/>
          </a:xfrm>
        </p:spPr>
        <p:txBody>
          <a:bodyPr/>
          <a:lstStyle/>
          <a:p>
            <a:pPr rtl="0"/>
            <a:r>
              <a:rPr lang="en-US" dirty="0"/>
              <a:t>By the end of this lesson, you will:</a:t>
            </a:r>
          </a:p>
          <a:p>
            <a:pPr lvl="1" rtl="0">
              <a:lnSpc>
                <a:spcPct val="200000"/>
              </a:lnSpc>
            </a:pPr>
            <a:r>
              <a:rPr lang="en-US" sz="1600" dirty="0"/>
              <a:t>Create entity models for your database.</a:t>
            </a:r>
          </a:p>
          <a:p>
            <a:pPr lvl="1" rtl="0">
              <a:lnSpc>
                <a:spcPct val="200000"/>
              </a:lnSpc>
            </a:pPr>
            <a:r>
              <a:rPr lang="en-US" dirty="0"/>
              <a:t>Use </a:t>
            </a:r>
            <a:r>
              <a:rPr lang="en-US" b="1" dirty="0"/>
              <a:t>Data Annotations</a:t>
            </a:r>
            <a:r>
              <a:rPr lang="en-US" dirty="0"/>
              <a:t> to define constraints and relationships.</a:t>
            </a:r>
          </a:p>
          <a:p>
            <a:pPr lvl="1" rtl="0">
              <a:lnSpc>
                <a:spcPct val="200000"/>
              </a:lnSpc>
            </a:pPr>
            <a:r>
              <a:rPr lang="en-US" dirty="0"/>
              <a:t>Use </a:t>
            </a:r>
            <a:r>
              <a:rPr lang="en-US" b="1" dirty="0"/>
              <a:t>Fluent API</a:t>
            </a:r>
            <a:r>
              <a:rPr lang="en-US" dirty="0"/>
              <a:t> to configure complex mappings.</a:t>
            </a:r>
          </a:p>
          <a:p>
            <a:pPr lvl="1" rtl="0">
              <a:lnSpc>
                <a:spcPct val="200000"/>
              </a:lnSpc>
            </a:pPr>
            <a:r>
              <a:rPr lang="en-US" dirty="0"/>
              <a:t>Know when to use each approach.</a:t>
            </a:r>
          </a:p>
        </p:txBody>
      </p:sp>
    </p:spTree>
    <p:extLst>
      <p:ext uri="{BB962C8B-B14F-4D97-AF65-F5344CB8AC3E}">
        <p14:creationId xmlns:p14="http://schemas.microsoft.com/office/powerpoint/2010/main" val="20683888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0923A-6FC5-BEBC-0BFD-71C9B3667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EC975-95A7-206F-3303-25BB56B9F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What Are Entity Models?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DB013E-231C-A2E7-9C6F-2DF7EDEBF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334149"/>
            <a:ext cx="8221855" cy="3096601"/>
          </a:xfrm>
        </p:spPr>
        <p:txBody>
          <a:bodyPr/>
          <a:lstStyle/>
          <a:p>
            <a:pPr rtl="0">
              <a:spcBef>
                <a:spcPts val="1200"/>
              </a:spcBef>
            </a:pPr>
            <a:r>
              <a:rPr lang="en-US" dirty="0"/>
              <a:t>In EF Core, </a:t>
            </a:r>
            <a:r>
              <a:rPr lang="en-US" b="1" dirty="0"/>
              <a:t>models = C# classes</a:t>
            </a:r>
            <a:r>
              <a:rPr lang="en-US" dirty="0"/>
              <a:t> that represent your database tables.</a:t>
            </a:r>
            <a:br>
              <a:rPr lang="en-US" dirty="0"/>
            </a:br>
            <a:r>
              <a:rPr lang="en-US" dirty="0"/>
              <a:t>Example: Doctor, Patient, Appointment</a:t>
            </a:r>
          </a:p>
          <a:p>
            <a:pPr rtl="0">
              <a:spcBef>
                <a:spcPts val="1200"/>
              </a:spcBef>
            </a:pPr>
            <a:r>
              <a:rPr lang="en-US" dirty="0"/>
              <a:t>EF Core maps these to SQL tables.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EA85D6-B9CA-A367-DA3E-FAC4C0382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963" y="2882449"/>
            <a:ext cx="7552074" cy="169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8549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8D846-811E-4612-2E14-1E62D4088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14D73-29D1-344F-EF43-863F58897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What Are Data Annotations?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6225A-113D-5297-44C9-16602807D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334149"/>
            <a:ext cx="8221855" cy="3096601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Attributes placed directly on properties to configure:</a:t>
            </a:r>
          </a:p>
          <a:p>
            <a:pPr lvl="1" rtl="0">
              <a:lnSpc>
                <a:spcPct val="160000"/>
              </a:lnSpc>
            </a:pPr>
            <a:r>
              <a:rPr lang="en-US" dirty="0"/>
              <a:t>Primary keys</a:t>
            </a:r>
          </a:p>
          <a:p>
            <a:pPr lvl="1" rtl="0">
              <a:lnSpc>
                <a:spcPct val="160000"/>
              </a:lnSpc>
            </a:pPr>
            <a:r>
              <a:rPr lang="en-US" dirty="0"/>
              <a:t>Required fields</a:t>
            </a:r>
          </a:p>
          <a:p>
            <a:pPr lvl="1" rtl="0">
              <a:lnSpc>
                <a:spcPct val="160000"/>
              </a:lnSpc>
            </a:pPr>
            <a:r>
              <a:rPr lang="en-US" dirty="0"/>
              <a:t>String lengths</a:t>
            </a:r>
          </a:p>
          <a:p>
            <a:pPr lvl="1" rtl="0">
              <a:lnSpc>
                <a:spcPct val="160000"/>
              </a:lnSpc>
            </a:pPr>
            <a:r>
              <a:rPr lang="en-US" dirty="0"/>
              <a:t>Relationships</a:t>
            </a:r>
          </a:p>
          <a:p>
            <a:pPr marL="114300" indent="0" rtl="0">
              <a:lnSpc>
                <a:spcPct val="200000"/>
              </a:lnSpc>
              <a:buNone/>
            </a:pPr>
            <a:r>
              <a:rPr lang="en-US" dirty="0"/>
              <a:t>✅ Easy and readable</a:t>
            </a:r>
          </a:p>
          <a:p>
            <a:pPr marL="114300" indent="0" rtl="0">
              <a:lnSpc>
                <a:spcPct val="200000"/>
              </a:lnSpc>
              <a:buNone/>
            </a:pPr>
            <a:r>
              <a:rPr lang="en-US" dirty="0"/>
              <a:t>⛔ Limited flexibility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C4F4C4-D00B-2619-088C-5FBBF9DCC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701" y="2023623"/>
            <a:ext cx="4290432" cy="26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5310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69378-EBA0-2800-53AD-E05FE967E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0AF84-8D95-2C14-FC8C-447E2A563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What Is the Fluent API?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73F07-1656-AEE4-AC4D-F45EF347E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334149"/>
            <a:ext cx="8221855" cy="3096601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Configuration done inside </a:t>
            </a:r>
            <a:r>
              <a:rPr lang="en-US" dirty="0" err="1">
                <a:latin typeface="Segoe UI Variable Text Semibold" pitchFamily="2" charset="0"/>
              </a:rPr>
              <a:t>OnModelCreating</a:t>
            </a:r>
            <a:r>
              <a:rPr lang="en-US" dirty="0"/>
              <a:t> using method chaining.</a:t>
            </a:r>
          </a:p>
          <a:p>
            <a:pPr marL="114300" indent="0" rtl="0">
              <a:lnSpc>
                <a:spcPct val="200000"/>
              </a:lnSpc>
              <a:buNone/>
            </a:pPr>
            <a:r>
              <a:rPr lang="en-US" dirty="0"/>
              <a:t>✅ Powerful for complex rules</a:t>
            </a:r>
          </a:p>
          <a:p>
            <a:pPr marL="114300" indent="0" rtl="0">
              <a:lnSpc>
                <a:spcPct val="200000"/>
              </a:lnSpc>
              <a:buNone/>
            </a:pPr>
            <a:r>
              <a:rPr lang="en-US" dirty="0"/>
              <a:t>✅ Keeps models clean</a:t>
            </a:r>
          </a:p>
          <a:p>
            <a:pPr marL="114300" indent="0" rtl="0">
              <a:lnSpc>
                <a:spcPct val="200000"/>
              </a:lnSpc>
              <a:buNone/>
            </a:pPr>
            <a:r>
              <a:rPr lang="en-US" dirty="0"/>
              <a:t>⛔ Less readable for beginners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3320B9-18A1-9F3E-51E6-909BCFA90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362" y="2374174"/>
            <a:ext cx="3261643" cy="23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5900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B2246-0022-5276-2945-3E506503D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FB7E8-9713-702F-D4CD-09335A069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More Examples: (Column Type)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47EE8-CAEE-65E7-B732-5CD4585FF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6" y="1334149"/>
            <a:ext cx="3954966" cy="717675"/>
          </a:xfrm>
        </p:spPr>
        <p:txBody>
          <a:bodyPr>
            <a:normAutofit lnSpcReduction="10000"/>
          </a:bodyPr>
          <a:lstStyle/>
          <a:p>
            <a:pPr marL="114300" indent="0" rtl="0">
              <a:lnSpc>
                <a:spcPct val="200000"/>
              </a:lnSpc>
              <a:buNone/>
            </a:pPr>
            <a:r>
              <a:rPr lang="en-US" dirty="0"/>
              <a:t>📝 Data Annotations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7F3807D-A51E-A2F9-C69D-4C85E2413C04}"/>
              </a:ext>
            </a:extLst>
          </p:cNvPr>
          <p:cNvSpPr txBox="1">
            <a:spLocks/>
          </p:cNvSpPr>
          <p:nvPr/>
        </p:nvSpPr>
        <p:spPr>
          <a:xfrm>
            <a:off x="4646186" y="1334148"/>
            <a:ext cx="3954966" cy="71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IBM Plex Sans Arabic"/>
              <a:buChar char="●"/>
              <a:defRPr sz="18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marR="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marR="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marR="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marR="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marR="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marR="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marR="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marR="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pPr marL="114300" indent="0" rtl="0">
              <a:lnSpc>
                <a:spcPct val="200000"/>
              </a:lnSpc>
              <a:buNone/>
            </a:pPr>
            <a:r>
              <a:rPr lang="en-US" dirty="0"/>
              <a:t>🔧 Fluent API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52E0F9-4AEB-2278-1B42-8F401011A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77" y="2313048"/>
            <a:ext cx="3581710" cy="73920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E2AE6EC-FB71-C037-3BE1-D05C66279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7413" y="2313046"/>
            <a:ext cx="2987299" cy="84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7397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D8A52-FE59-4128-A390-37EB1300B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15742-CC0F-9F95-0EFC-27A2FC2B1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More Examples: (One-to-Many Relationship)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A21073-2730-3583-655C-1E02BC65C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6" y="940140"/>
            <a:ext cx="3954966" cy="717675"/>
          </a:xfrm>
        </p:spPr>
        <p:txBody>
          <a:bodyPr>
            <a:normAutofit lnSpcReduction="10000"/>
          </a:bodyPr>
          <a:lstStyle/>
          <a:p>
            <a:pPr marL="114300" indent="0" rtl="0">
              <a:lnSpc>
                <a:spcPct val="200000"/>
              </a:lnSpc>
              <a:buNone/>
            </a:pPr>
            <a:r>
              <a:rPr lang="en-US" dirty="0"/>
              <a:t>📝 Data Annotations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4FCF80-4253-4D9C-658E-D97710372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661" y="1509139"/>
            <a:ext cx="3033023" cy="172989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6798855-1A45-F5C8-B120-CC51E5473C6D}"/>
              </a:ext>
            </a:extLst>
          </p:cNvPr>
          <p:cNvSpPr txBox="1">
            <a:spLocks/>
          </p:cNvSpPr>
          <p:nvPr/>
        </p:nvSpPr>
        <p:spPr>
          <a:xfrm>
            <a:off x="4646186" y="940139"/>
            <a:ext cx="3954966" cy="71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IBM Plex Sans Arabic"/>
              <a:buChar char="●"/>
              <a:defRPr sz="18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marR="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marR="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marR="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marR="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marR="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marR="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marR="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marR="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pPr marL="114300" indent="0" rtl="0">
              <a:lnSpc>
                <a:spcPct val="200000"/>
              </a:lnSpc>
              <a:buNone/>
            </a:pPr>
            <a:r>
              <a:rPr lang="en-US" dirty="0"/>
              <a:t>🔧 Fluent API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A7380CD-ECF7-60F4-E147-9DDDEBB10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357" y="1737004"/>
            <a:ext cx="2834886" cy="10135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6C32DD-4F7E-7B85-8256-E23B908436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429" y="3287173"/>
            <a:ext cx="3642678" cy="178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7331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44300-C1E2-4BF3-CB9B-8B28E53DF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8996F-DAF1-FA67-4AB3-112D7725C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More Examples: (Ignore Property)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74251-D5DF-3D9D-8BEA-503493B8A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6" y="1334149"/>
            <a:ext cx="3954966" cy="717675"/>
          </a:xfrm>
        </p:spPr>
        <p:txBody>
          <a:bodyPr>
            <a:normAutofit lnSpcReduction="10000"/>
          </a:bodyPr>
          <a:lstStyle/>
          <a:p>
            <a:pPr marL="114300" indent="0" rtl="0">
              <a:lnSpc>
                <a:spcPct val="200000"/>
              </a:lnSpc>
              <a:buNone/>
            </a:pPr>
            <a:r>
              <a:rPr lang="en-US" dirty="0"/>
              <a:t>📝 Data Annotations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DBBDA2E-8E05-4592-AD5C-7BA7A846454A}"/>
              </a:ext>
            </a:extLst>
          </p:cNvPr>
          <p:cNvSpPr txBox="1">
            <a:spLocks/>
          </p:cNvSpPr>
          <p:nvPr/>
        </p:nvSpPr>
        <p:spPr>
          <a:xfrm>
            <a:off x="4646186" y="1334148"/>
            <a:ext cx="3954966" cy="71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IBM Plex Sans Arabic"/>
              <a:buChar char="●"/>
              <a:defRPr sz="18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marR="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marR="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marR="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marR="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marR="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marR="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marR="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marR="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pPr marL="114300" indent="0" rtl="0">
              <a:lnSpc>
                <a:spcPct val="200000"/>
              </a:lnSpc>
              <a:buNone/>
            </a:pPr>
            <a:r>
              <a:rPr lang="en-US" dirty="0"/>
              <a:t>🔧 Fluent API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72BF45-2E23-5F13-FCE9-62D864A90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084" y="2181337"/>
            <a:ext cx="2568163" cy="6172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690728-C575-DD1C-6CFD-35ACFC620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492" y="2181337"/>
            <a:ext cx="2598645" cy="5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5482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D6024-A2C2-2F44-345A-8DEA65258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FDC89-B42A-7BB3-E820-C59930DA0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More Examples: (Set Default Value)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51181-9445-4BC0-A83B-3590CC068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6" y="1334149"/>
            <a:ext cx="3954966" cy="717675"/>
          </a:xfrm>
        </p:spPr>
        <p:txBody>
          <a:bodyPr>
            <a:normAutofit lnSpcReduction="10000"/>
          </a:bodyPr>
          <a:lstStyle/>
          <a:p>
            <a:pPr marL="114300" indent="0" rtl="0">
              <a:lnSpc>
                <a:spcPct val="200000"/>
              </a:lnSpc>
              <a:buNone/>
            </a:pPr>
            <a:r>
              <a:rPr lang="en-US" dirty="0"/>
              <a:t>📝 Data Annotations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2988C5E-424F-0D5E-2C31-CAD0F3B77F97}"/>
              </a:ext>
            </a:extLst>
          </p:cNvPr>
          <p:cNvSpPr txBox="1">
            <a:spLocks/>
          </p:cNvSpPr>
          <p:nvPr/>
        </p:nvSpPr>
        <p:spPr>
          <a:xfrm>
            <a:off x="4646186" y="1334148"/>
            <a:ext cx="3954966" cy="71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IBM Plex Sans Arabic"/>
              <a:buChar char="●"/>
              <a:defRPr sz="18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marR="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marR="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marR="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marR="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marR="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marR="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marR="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marR="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pPr marL="114300" indent="0" rtl="0">
              <a:lnSpc>
                <a:spcPct val="200000"/>
              </a:lnSpc>
              <a:buNone/>
            </a:pPr>
            <a:r>
              <a:rPr lang="en-US" dirty="0"/>
              <a:t>🔧 Fluent API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3698DF-304F-6ECE-1A7C-352FE4318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495" y="2051823"/>
            <a:ext cx="3025402" cy="82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9951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098A9-70F0-E19B-8B38-1632F0FB4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0FA3C-9F5A-CFE4-8534-CAF27EDA2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More Examples: (Composite Key)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1727E6-668E-2AF3-14A5-7EA648F6D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6" y="1334149"/>
            <a:ext cx="3954966" cy="717675"/>
          </a:xfrm>
        </p:spPr>
        <p:txBody>
          <a:bodyPr>
            <a:normAutofit lnSpcReduction="10000"/>
          </a:bodyPr>
          <a:lstStyle/>
          <a:p>
            <a:pPr marL="114300" indent="0" rtl="0">
              <a:lnSpc>
                <a:spcPct val="200000"/>
              </a:lnSpc>
              <a:buNone/>
            </a:pPr>
            <a:r>
              <a:rPr lang="en-US" dirty="0"/>
              <a:t>📝 Data Annotations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DEF852D-D856-A3FF-51F7-4F3AC967F7D2}"/>
              </a:ext>
            </a:extLst>
          </p:cNvPr>
          <p:cNvSpPr txBox="1">
            <a:spLocks/>
          </p:cNvSpPr>
          <p:nvPr/>
        </p:nvSpPr>
        <p:spPr>
          <a:xfrm>
            <a:off x="4646186" y="1334148"/>
            <a:ext cx="3954966" cy="71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IBM Plex Sans Arabic"/>
              <a:buChar char="●"/>
              <a:defRPr sz="18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marR="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marR="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marR="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marR="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marR="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marR="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marR="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marR="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pPr marL="114300" indent="0" rtl="0">
              <a:lnSpc>
                <a:spcPct val="200000"/>
              </a:lnSpc>
              <a:buNone/>
            </a:pPr>
            <a:r>
              <a:rPr lang="en-US" dirty="0"/>
              <a:t>🔧 Fluent API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ED64B7-7AD6-ECE5-F6C7-C4CE5E8ED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186" y="2122236"/>
            <a:ext cx="4320914" cy="58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9548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CF0A6-9651-25E6-4F02-1A22A2A44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D96BD-FCE0-E5F3-AFCC-06C099FBB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More Examples: (Many-to-Many Relationship)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9A31B0-41DA-BB81-9AE7-043736A1B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6" y="798901"/>
            <a:ext cx="3954966" cy="717675"/>
          </a:xfrm>
        </p:spPr>
        <p:txBody>
          <a:bodyPr>
            <a:normAutofit lnSpcReduction="10000"/>
          </a:bodyPr>
          <a:lstStyle/>
          <a:p>
            <a:pPr marL="114300" indent="0" rtl="0">
              <a:lnSpc>
                <a:spcPct val="200000"/>
              </a:lnSpc>
              <a:buNone/>
            </a:pPr>
            <a:r>
              <a:rPr lang="en-US" dirty="0"/>
              <a:t>📝 Data Annotations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7C5D493-583C-F28F-E374-743797618F8F}"/>
              </a:ext>
            </a:extLst>
          </p:cNvPr>
          <p:cNvSpPr txBox="1">
            <a:spLocks/>
          </p:cNvSpPr>
          <p:nvPr/>
        </p:nvSpPr>
        <p:spPr>
          <a:xfrm>
            <a:off x="4646186" y="798900"/>
            <a:ext cx="3954966" cy="71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IBM Plex Sans Arabic"/>
              <a:buChar char="●"/>
              <a:defRPr sz="18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marR="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marR="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marR="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marR="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marR="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marR="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marR="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marR="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pPr marL="114300" indent="0" rtl="0">
              <a:lnSpc>
                <a:spcPct val="200000"/>
              </a:lnSpc>
              <a:buNone/>
            </a:pPr>
            <a:r>
              <a:rPr lang="en-US" dirty="0"/>
              <a:t>🔧 Fluent API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BD6C03-B2C2-E03E-36B0-F8F53AC3A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15" y="1516575"/>
            <a:ext cx="4261425" cy="32716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40881A-EB6D-9EA5-E151-613427F15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264" y="1516575"/>
            <a:ext cx="4275190" cy="111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7627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499DE-4D71-21E4-4D48-E8E191D5B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5D94D-928D-B8A2-38C6-5FEFC63D9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More Examples: (Delete Behavior)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020CA-9C5A-1258-F41F-A14D34661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6" y="1334149"/>
            <a:ext cx="3954966" cy="717675"/>
          </a:xfrm>
        </p:spPr>
        <p:txBody>
          <a:bodyPr>
            <a:normAutofit lnSpcReduction="10000"/>
          </a:bodyPr>
          <a:lstStyle/>
          <a:p>
            <a:pPr marL="114300" indent="0" rtl="0">
              <a:lnSpc>
                <a:spcPct val="200000"/>
              </a:lnSpc>
              <a:buNone/>
            </a:pPr>
            <a:r>
              <a:rPr lang="en-US" dirty="0"/>
              <a:t>📝 Data Annotations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EFF932B-12BF-6841-A65A-244B069BC228}"/>
              </a:ext>
            </a:extLst>
          </p:cNvPr>
          <p:cNvSpPr txBox="1">
            <a:spLocks/>
          </p:cNvSpPr>
          <p:nvPr/>
        </p:nvSpPr>
        <p:spPr>
          <a:xfrm>
            <a:off x="4646186" y="1334148"/>
            <a:ext cx="3954966" cy="71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IBM Plex Sans Arabic"/>
              <a:buChar char="●"/>
              <a:defRPr sz="18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marR="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marR="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marR="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marR="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marR="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marR="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marR="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marR="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pPr marL="114300" indent="0" rtl="0">
              <a:lnSpc>
                <a:spcPct val="200000"/>
              </a:lnSpc>
              <a:buNone/>
            </a:pPr>
            <a:r>
              <a:rPr lang="en-US" dirty="0"/>
              <a:t>🔧 Fluent API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DD2E63-8458-264F-7048-CBFA0F8C6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2455" y="2051823"/>
            <a:ext cx="3414056" cy="127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2875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E5E0A-B79E-0781-AD09-270FACE39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4E164-AB07-D8BD-50AD-C1A67D3B6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Data Annotations vs Fluent API – Comparison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94386EC-CCF9-882B-C445-8980DEFE4F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036544"/>
              </p:ext>
            </p:extLst>
          </p:nvPr>
        </p:nvGraphicFramePr>
        <p:xfrm>
          <a:off x="311149" y="1428750"/>
          <a:ext cx="8521701" cy="228600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840567">
                  <a:extLst>
                    <a:ext uri="{9D8B030D-6E8A-4147-A177-3AD203B41FA5}">
                      <a16:colId xmlns:a16="http://schemas.microsoft.com/office/drawing/2014/main" val="183710654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3307857677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16623779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Feature</a:t>
                      </a:r>
                    </a:p>
                  </a:txBody>
                  <a:tcPr anchor="ctr">
                    <a:solidFill>
                      <a:srgbClr val="5431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Data Annotations</a:t>
                      </a:r>
                    </a:p>
                  </a:txBody>
                  <a:tcPr anchor="ctr">
                    <a:solidFill>
                      <a:srgbClr val="5431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Fluent API</a:t>
                      </a:r>
                    </a:p>
                  </a:txBody>
                  <a:tcPr anchor="ctr">
                    <a:solidFill>
                      <a:srgbClr val="5431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48424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Simplicity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✅ Easy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❌ More complex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419675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Reusability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❌ Mixed in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✅ Centralized in </a:t>
                      </a:r>
                      <a:r>
                        <a:rPr lang="en-US" sz="1400" dirty="0" err="1"/>
                        <a:t>DbContext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437912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❌ 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✅ Full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3396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Best 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✅ Quick setups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✅ Advanced configs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2253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26454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55B27-16B7-FC3D-33D5-69F5B771E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64895-3E8C-90B3-411D-A2872524C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Best Practices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8B708-1E78-8CD7-02B7-9F990A6CC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334149"/>
            <a:ext cx="8221855" cy="3096601"/>
          </a:xfrm>
        </p:spPr>
        <p:txBody>
          <a:bodyPr>
            <a:normAutofit fontScale="92500" lnSpcReduction="20000"/>
          </a:bodyPr>
          <a:lstStyle/>
          <a:p>
            <a:pPr marL="114300" indent="0" rtl="0">
              <a:lnSpc>
                <a:spcPct val="200000"/>
              </a:lnSpc>
              <a:buNone/>
            </a:pPr>
            <a:r>
              <a:rPr lang="en-US" dirty="0"/>
              <a:t>✅ Use Data Annotations for basic validation &amp; simple mapping.</a:t>
            </a:r>
          </a:p>
          <a:p>
            <a:pPr marL="114300" indent="0" rtl="0">
              <a:lnSpc>
                <a:spcPct val="200000"/>
              </a:lnSpc>
              <a:buNone/>
            </a:pPr>
            <a:r>
              <a:rPr lang="en-US" dirty="0"/>
              <a:t>✅ Use Fluent API for:</a:t>
            </a:r>
          </a:p>
          <a:p>
            <a:pPr lvl="1" rtl="0">
              <a:lnSpc>
                <a:spcPct val="200000"/>
              </a:lnSpc>
            </a:pPr>
            <a:r>
              <a:rPr lang="en-US" dirty="0"/>
              <a:t>Composite keys</a:t>
            </a:r>
          </a:p>
          <a:p>
            <a:pPr lvl="1" rtl="0">
              <a:lnSpc>
                <a:spcPct val="200000"/>
              </a:lnSpc>
            </a:pPr>
            <a:r>
              <a:rPr lang="en-US" dirty="0"/>
              <a:t>Table/column renaming</a:t>
            </a:r>
          </a:p>
          <a:p>
            <a:pPr lvl="1" rtl="0">
              <a:lnSpc>
                <a:spcPct val="200000"/>
              </a:lnSpc>
            </a:pPr>
            <a:r>
              <a:rPr lang="en-US" dirty="0"/>
              <a:t>Cascade behavior</a:t>
            </a:r>
          </a:p>
          <a:p>
            <a:pPr lvl="1" rtl="0">
              <a:lnSpc>
                <a:spcPct val="200000"/>
              </a:lnSpc>
            </a:pPr>
            <a:r>
              <a:rPr lang="en-US" dirty="0"/>
              <a:t>Navigation mapping</a:t>
            </a:r>
          </a:p>
          <a:p>
            <a:pPr marL="114300" indent="0" rtl="0">
              <a:lnSpc>
                <a:spcPct val="200000"/>
              </a:lnSpc>
              <a:buNone/>
            </a:pPr>
            <a:r>
              <a:rPr lang="en-US" dirty="0"/>
              <a:t>💡 You can mix both — but prefer one style per project.</a:t>
            </a:r>
          </a:p>
        </p:txBody>
      </p:sp>
    </p:spTree>
    <p:extLst>
      <p:ext uri="{BB962C8B-B14F-4D97-AF65-F5344CB8AC3E}">
        <p14:creationId xmlns:p14="http://schemas.microsoft.com/office/powerpoint/2010/main" val="28700280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>
          <a:extLst>
            <a:ext uri="{FF2B5EF4-FFF2-40B4-BE49-F238E27FC236}">
              <a16:creationId xmlns:a16="http://schemas.microsoft.com/office/drawing/2014/main" id="{94E7F13E-88B0-DBB6-AFF0-098429DD9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>
            <a:extLst>
              <a:ext uri="{FF2B5EF4-FFF2-40B4-BE49-F238E27FC236}">
                <a16:creationId xmlns:a16="http://schemas.microsoft.com/office/drawing/2014/main" id="{772AD7DF-3E84-C511-BE9E-4C105517AA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27261" y="1590000"/>
            <a:ext cx="7354175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4800" b="1" dirty="0">
                <a:solidFill>
                  <a:srgbClr val="EEEDED"/>
                </a:solidFill>
              </a:rPr>
              <a:t>Migrations and Database Creation</a:t>
            </a:r>
            <a:endParaRPr sz="4800" b="1" dirty="0">
              <a:solidFill>
                <a:srgbClr val="58E3D8"/>
              </a:solidFill>
              <a:latin typeface="IBM Plex Sans Arabic SemiBold"/>
              <a:cs typeface="IBM Plex Sans Arabic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6103675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D55E9-70DA-BE7C-5018-7F024E20F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20BA2-4FF9-7AB4-BE8A-92720C97F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Learning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09AA8-4A88-195F-32E4-BEBE2E7DC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334149"/>
            <a:ext cx="8221855" cy="3096601"/>
          </a:xfrm>
        </p:spPr>
        <p:txBody>
          <a:bodyPr/>
          <a:lstStyle/>
          <a:p>
            <a:pPr rtl="0"/>
            <a:r>
              <a:rPr lang="en-US" dirty="0"/>
              <a:t>By the end of this lesson, you will:</a:t>
            </a:r>
          </a:p>
          <a:p>
            <a:pPr lvl="1" rtl="0">
              <a:lnSpc>
                <a:spcPct val="200000"/>
              </a:lnSpc>
            </a:pPr>
            <a:r>
              <a:rPr lang="en-US" sz="1600" dirty="0"/>
              <a:t>Understand what </a:t>
            </a:r>
            <a:r>
              <a:rPr lang="en-US" sz="1600" b="1" dirty="0"/>
              <a:t>migrations</a:t>
            </a:r>
            <a:r>
              <a:rPr lang="en-US" sz="1600" dirty="0"/>
              <a:t> are in EF Core</a:t>
            </a:r>
          </a:p>
          <a:p>
            <a:pPr lvl="1" rtl="0">
              <a:lnSpc>
                <a:spcPct val="200000"/>
              </a:lnSpc>
            </a:pPr>
            <a:r>
              <a:rPr lang="en-US" dirty="0"/>
              <a:t>Create and apply migrations</a:t>
            </a:r>
          </a:p>
          <a:p>
            <a:pPr lvl="1" rtl="0">
              <a:lnSpc>
                <a:spcPct val="200000"/>
              </a:lnSpc>
            </a:pPr>
            <a:r>
              <a:rPr lang="en-US" dirty="0"/>
              <a:t>Keep your database schema in sync with your models</a:t>
            </a:r>
          </a:p>
          <a:p>
            <a:pPr lvl="1" rtl="0">
              <a:lnSpc>
                <a:spcPct val="200000"/>
              </a:lnSpc>
            </a:pPr>
            <a:r>
              <a:rPr lang="en-US" dirty="0"/>
              <a:t>Use CLI tools to generate and update your DB</a:t>
            </a:r>
          </a:p>
        </p:txBody>
      </p:sp>
    </p:spTree>
    <p:extLst>
      <p:ext uri="{BB962C8B-B14F-4D97-AF65-F5344CB8AC3E}">
        <p14:creationId xmlns:p14="http://schemas.microsoft.com/office/powerpoint/2010/main" val="8460981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4D1AD-7D0E-D966-7A1A-25CAFDEFD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3DD0B-02CB-DF98-B51F-0F240DF8C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What Are Migrations?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DFB0D-42F1-12CE-48F3-C9A8BB988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334149"/>
            <a:ext cx="8221855" cy="3096601"/>
          </a:xfrm>
        </p:spPr>
        <p:txBody>
          <a:bodyPr>
            <a:normAutofit fontScale="92500" lnSpcReduction="10000"/>
          </a:bodyPr>
          <a:lstStyle/>
          <a:p>
            <a:pPr rtl="0">
              <a:spcBef>
                <a:spcPts val="1200"/>
              </a:spcBef>
            </a:pPr>
            <a:r>
              <a:rPr lang="en-US" dirty="0"/>
              <a:t>Migrations are a </a:t>
            </a:r>
            <a:r>
              <a:rPr lang="en-US" b="1" dirty="0"/>
              <a:t>way to track changes</a:t>
            </a:r>
            <a:r>
              <a:rPr lang="en-US" dirty="0"/>
              <a:t> in your model classes (like Doctor, Patient, Appointment)</a:t>
            </a:r>
          </a:p>
          <a:p>
            <a:pPr rtl="0">
              <a:spcBef>
                <a:spcPts val="1200"/>
              </a:spcBef>
            </a:pPr>
            <a:r>
              <a:rPr lang="en-US" dirty="0"/>
              <a:t>EF Core generates a </a:t>
            </a:r>
            <a:r>
              <a:rPr lang="en-US" b="1" dirty="0"/>
              <a:t>versioned C# migration file</a:t>
            </a:r>
          </a:p>
          <a:p>
            <a:pPr rtl="0">
              <a:spcBef>
                <a:spcPts val="1200"/>
              </a:spcBef>
            </a:pPr>
            <a:r>
              <a:rPr lang="en-US" dirty="0"/>
              <a:t>EF Core </a:t>
            </a:r>
            <a:r>
              <a:rPr lang="en-US" b="1" dirty="0"/>
              <a:t>generates SQL</a:t>
            </a:r>
            <a:r>
              <a:rPr lang="en-US" dirty="0"/>
              <a:t> scripts based on those changes</a:t>
            </a:r>
          </a:p>
          <a:p>
            <a:pPr rtl="0">
              <a:spcBef>
                <a:spcPts val="1200"/>
              </a:spcBef>
            </a:pPr>
            <a:r>
              <a:rPr lang="en-US" dirty="0"/>
              <a:t>You can </a:t>
            </a:r>
            <a:r>
              <a:rPr lang="en-US" b="1" dirty="0"/>
              <a:t>apply</a:t>
            </a:r>
            <a:r>
              <a:rPr lang="en-US" dirty="0"/>
              <a:t> these changes to your database </a:t>
            </a:r>
            <a:r>
              <a:rPr lang="en-US" b="1" dirty="0"/>
              <a:t>using simple commands</a:t>
            </a:r>
          </a:p>
          <a:p>
            <a:pPr marL="114300" indent="0" rtl="0">
              <a:spcBef>
                <a:spcPts val="1200"/>
              </a:spcBef>
              <a:buNone/>
            </a:pPr>
            <a:endParaRPr lang="en-US" dirty="0"/>
          </a:p>
          <a:p>
            <a:pPr marL="114300" indent="0" rtl="0">
              <a:spcBef>
                <a:spcPts val="1200"/>
              </a:spcBef>
              <a:buNone/>
            </a:pPr>
            <a:r>
              <a:rPr lang="en-US" dirty="0"/>
              <a:t>🧠 Think of it as version control for your database schema</a:t>
            </a:r>
          </a:p>
        </p:txBody>
      </p:sp>
    </p:spTree>
    <p:extLst>
      <p:ext uri="{BB962C8B-B14F-4D97-AF65-F5344CB8AC3E}">
        <p14:creationId xmlns:p14="http://schemas.microsoft.com/office/powerpoint/2010/main" val="30439214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0C7A4-8494-1796-1B79-92674F604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84B51-746A-E3FD-DA90-86A86A26A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Migration Workflow</a:t>
            </a:r>
          </a:p>
        </p:txBody>
      </p:sp>
      <p:pic>
        <p:nvPicPr>
          <p:cNvPr id="7" name="Picture 6" descr="A diagram of a flowchart&#10;&#10;AI-generated content may be incorrect.">
            <a:extLst>
              <a:ext uri="{FF2B5EF4-FFF2-40B4-BE49-F238E27FC236}">
                <a16:creationId xmlns:a16="http://schemas.microsoft.com/office/drawing/2014/main" id="{957DC62C-12A0-8B4F-9858-3E004B6E43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035" r="10543"/>
          <a:stretch>
            <a:fillRect/>
          </a:stretch>
        </p:blipFill>
        <p:spPr>
          <a:xfrm>
            <a:off x="3940097" y="0"/>
            <a:ext cx="520390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663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17F0F-EA6E-E0F9-1878-A42DBE261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190AD-DE3B-BBFD-4B1B-889E38132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Creating Your First Migration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14949-16AA-221E-D427-D46F5C3EE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334149"/>
            <a:ext cx="8221855" cy="3096601"/>
          </a:xfrm>
        </p:spPr>
        <p:txBody>
          <a:bodyPr/>
          <a:lstStyle/>
          <a:p>
            <a:pPr marL="114300" indent="0" rtl="0">
              <a:spcBef>
                <a:spcPts val="1200"/>
              </a:spcBef>
              <a:buNone/>
            </a:pPr>
            <a:endParaRPr lang="en-US" dirty="0"/>
          </a:p>
          <a:p>
            <a:pPr marL="114300" indent="0" rtl="0">
              <a:spcBef>
                <a:spcPts val="1200"/>
              </a:spcBef>
              <a:buNone/>
            </a:pPr>
            <a:endParaRPr lang="en-US" dirty="0"/>
          </a:p>
          <a:p>
            <a:pPr marL="114300" indent="0" rtl="0">
              <a:spcBef>
                <a:spcPts val="1200"/>
              </a:spcBef>
              <a:buNone/>
            </a:pPr>
            <a:r>
              <a:rPr lang="en-US" dirty="0"/>
              <a:t>🧠 This generates a Migrations folder containing:</a:t>
            </a:r>
          </a:p>
          <a:p>
            <a:pPr lvl="1" rtl="0">
              <a:spcBef>
                <a:spcPts val="1200"/>
              </a:spcBef>
            </a:pPr>
            <a:r>
              <a:rPr lang="en-US" dirty="0"/>
              <a:t>Model snapshot</a:t>
            </a:r>
          </a:p>
          <a:p>
            <a:pPr lvl="1" rtl="0">
              <a:spcBef>
                <a:spcPts val="1200"/>
              </a:spcBef>
            </a:pPr>
            <a:r>
              <a:rPr lang="en-US" dirty="0"/>
              <a:t>Versioned migration files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BBB137-3932-D4B8-6D22-C026B3DB5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995" y="1334149"/>
            <a:ext cx="7506350" cy="998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4410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A442B-0687-666F-E00F-7057202D7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34F34-210B-DFED-6137-9F8C5754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Applying the Migration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82E100-E9C0-7E80-1D54-5300D16AD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334149"/>
            <a:ext cx="8221855" cy="3096601"/>
          </a:xfrm>
        </p:spPr>
        <p:txBody>
          <a:bodyPr/>
          <a:lstStyle/>
          <a:p>
            <a:pPr marL="114300" indent="0" rtl="0">
              <a:spcBef>
                <a:spcPts val="1200"/>
              </a:spcBef>
              <a:buNone/>
            </a:pPr>
            <a:endParaRPr lang="en-US" dirty="0"/>
          </a:p>
          <a:p>
            <a:pPr marL="114300" indent="0" rtl="0">
              <a:spcBef>
                <a:spcPts val="1200"/>
              </a:spcBef>
              <a:buNone/>
            </a:pPr>
            <a:endParaRPr lang="en-US" dirty="0"/>
          </a:p>
          <a:p>
            <a:pPr marL="114300" indent="0" rtl="0">
              <a:spcBef>
                <a:spcPts val="1200"/>
              </a:spcBef>
              <a:buNone/>
            </a:pPr>
            <a:r>
              <a:rPr lang="en-US" dirty="0"/>
              <a:t>✅ This creates your SQL database with:</a:t>
            </a:r>
          </a:p>
          <a:p>
            <a:pPr lvl="1" rtl="0">
              <a:spcBef>
                <a:spcPts val="1200"/>
              </a:spcBef>
            </a:pPr>
            <a:r>
              <a:rPr lang="en-US" dirty="0"/>
              <a:t>Tables (Doctor, Patient, Appointment)</a:t>
            </a:r>
          </a:p>
          <a:p>
            <a:pPr lvl="1" rtl="0">
              <a:spcBef>
                <a:spcPts val="1200"/>
              </a:spcBef>
            </a:pPr>
            <a:r>
              <a:rPr lang="en-US" dirty="0"/>
              <a:t>Primary/foreign keys</a:t>
            </a:r>
          </a:p>
          <a:p>
            <a:pPr lvl="1" rtl="0">
              <a:spcBef>
                <a:spcPts val="1200"/>
              </a:spcBef>
            </a:pPr>
            <a:r>
              <a:rPr lang="en-US" dirty="0"/>
              <a:t>Column constraints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B9C7CE-8BB2-9BFB-090F-0C3809BEA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995" y="1158570"/>
            <a:ext cx="7475868" cy="96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8945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E7F3A-B160-3F40-6011-7D063B578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B0BCA-5831-7551-575C-5E0E57438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Modifying Your Schema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BF32B2-00F0-D53C-39F0-512D68FCF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334149"/>
            <a:ext cx="8221855" cy="3096601"/>
          </a:xfrm>
        </p:spPr>
        <p:txBody>
          <a:bodyPr/>
          <a:lstStyle/>
          <a:p>
            <a:pPr marL="114300" indent="0" rtl="0">
              <a:spcBef>
                <a:spcPts val="1200"/>
              </a:spcBef>
              <a:buNone/>
            </a:pPr>
            <a:r>
              <a:rPr lang="en-US" dirty="0"/>
              <a:t>If you add a property (e.g., </a:t>
            </a:r>
            <a:r>
              <a:rPr lang="en-US" dirty="0" err="1"/>
              <a:t>Patient.Phone</a:t>
            </a:r>
            <a:r>
              <a:rPr lang="en-US" dirty="0"/>
              <a:t>):</a:t>
            </a:r>
          </a:p>
          <a:p>
            <a:pPr marL="114300" indent="0" rtl="0">
              <a:spcBef>
                <a:spcPts val="1200"/>
              </a:spcBef>
              <a:buNone/>
            </a:pPr>
            <a:endParaRPr lang="en-US" dirty="0"/>
          </a:p>
          <a:p>
            <a:pPr marL="114300" indent="0" rtl="0">
              <a:spcBef>
                <a:spcPts val="1200"/>
              </a:spcBef>
              <a:buNone/>
            </a:pPr>
            <a:endParaRPr lang="en-US" dirty="0"/>
          </a:p>
          <a:p>
            <a:pPr marL="114300" indent="0" rtl="0">
              <a:spcBef>
                <a:spcPts val="1200"/>
              </a:spcBef>
              <a:buNone/>
            </a:pPr>
            <a:endParaRPr lang="en-US" dirty="0"/>
          </a:p>
          <a:p>
            <a:pPr marL="114300" indent="0" rtl="0">
              <a:spcBef>
                <a:spcPts val="1200"/>
              </a:spcBef>
              <a:buNone/>
            </a:pPr>
            <a:r>
              <a:rPr lang="en-US" dirty="0"/>
              <a:t>💡 EF Core detects changes and creates C# migration file then apply the update.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9405E5-5BBB-BAA9-BB9D-505AAFF7E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56" y="1962097"/>
            <a:ext cx="7483488" cy="121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2216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F0B8C-F346-54B2-8C56-CE650D9CB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8C7D2-0EC2-5D06-BB4C-197433662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Folder Structure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0AF755-7BA5-918F-41BB-101922B5C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497" y="1520099"/>
            <a:ext cx="7453006" cy="210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4919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A550F-EAD4-5A05-8865-EF46F0AB6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EA830-C062-87C6-1BE6-3F732F0DD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Removing a Migration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7D90E0-EE90-34E3-5922-288536BB2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011044"/>
            <a:ext cx="8221855" cy="3813717"/>
          </a:xfrm>
        </p:spPr>
        <p:txBody>
          <a:bodyPr>
            <a:normAutofit/>
          </a:bodyPr>
          <a:lstStyle/>
          <a:p>
            <a:pPr marL="114300" indent="0" rtl="0">
              <a:spcBef>
                <a:spcPts val="1200"/>
              </a:spcBef>
              <a:buNone/>
            </a:pPr>
            <a:r>
              <a:rPr lang="en-US" dirty="0"/>
              <a:t>Sometimes you create a migration and realize there's a mistake — don’t worry!</a:t>
            </a:r>
          </a:p>
          <a:p>
            <a:pPr marL="114300" indent="0" rtl="0">
              <a:spcBef>
                <a:spcPts val="1200"/>
              </a:spcBef>
              <a:buNone/>
            </a:pPr>
            <a:r>
              <a:rPr lang="en-US" dirty="0"/>
              <a:t>There are two cases:</a:t>
            </a:r>
          </a:p>
          <a:p>
            <a:pPr marL="114300" indent="0" rtl="0">
              <a:spcBef>
                <a:spcPts val="1200"/>
              </a:spcBef>
              <a:buNone/>
            </a:pPr>
            <a:r>
              <a:rPr lang="en-US" dirty="0"/>
              <a:t>🟨 Case 1: You haven’t run </a:t>
            </a:r>
            <a:r>
              <a:rPr lang="en-US" b="1" dirty="0"/>
              <a:t>Update-Database</a:t>
            </a:r>
            <a:r>
              <a:rPr lang="en-US" dirty="0"/>
              <a:t> yet</a:t>
            </a:r>
          </a:p>
          <a:p>
            <a:pPr marL="114300" indent="0" rtl="0">
              <a:spcBef>
                <a:spcPts val="1200"/>
              </a:spcBef>
              <a:buNone/>
            </a:pPr>
            <a:r>
              <a:rPr lang="en-US" dirty="0"/>
              <a:t>You can safely remove the last migration:</a:t>
            </a:r>
          </a:p>
          <a:p>
            <a:pPr marL="114300" indent="0" rtl="0">
              <a:spcBef>
                <a:spcPts val="1200"/>
              </a:spcBef>
              <a:buNone/>
            </a:pPr>
            <a:endParaRPr lang="en-US" dirty="0"/>
          </a:p>
          <a:p>
            <a:pPr marL="114300" indent="0" rtl="0">
              <a:spcBef>
                <a:spcPts val="1200"/>
              </a:spcBef>
              <a:buNone/>
            </a:pPr>
            <a:endParaRPr lang="en-US" dirty="0"/>
          </a:p>
          <a:p>
            <a:pPr marL="114300" indent="0" rtl="0">
              <a:spcBef>
                <a:spcPts val="1200"/>
              </a:spcBef>
              <a:buNone/>
            </a:pPr>
            <a:r>
              <a:rPr lang="en-US" dirty="0"/>
              <a:t>✅ This deletes the latest migration file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8B5ECC-9A9E-9BC0-AFDB-C20AA3502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155" y="3323290"/>
            <a:ext cx="7414903" cy="99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9477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10B45-75FA-9F14-C8EB-C5854E395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745A5-3318-6C3F-41B9-5C1B50438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Removing a Migration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4BEBAB-3345-E008-9780-A764F92F3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011044"/>
            <a:ext cx="8221855" cy="3813717"/>
          </a:xfrm>
        </p:spPr>
        <p:txBody>
          <a:bodyPr>
            <a:normAutofit fontScale="92500" lnSpcReduction="20000"/>
          </a:bodyPr>
          <a:lstStyle/>
          <a:p>
            <a:pPr marL="114300" indent="0" rtl="0">
              <a:spcBef>
                <a:spcPts val="1200"/>
              </a:spcBef>
              <a:buNone/>
            </a:pPr>
            <a:r>
              <a:rPr lang="en-US" dirty="0"/>
              <a:t>🟥 Case 2: You already ran </a:t>
            </a:r>
            <a:r>
              <a:rPr lang="en-US" b="1" dirty="0"/>
              <a:t>Update-Database</a:t>
            </a:r>
          </a:p>
          <a:p>
            <a:pPr marL="114300" indent="0" rtl="0">
              <a:spcBef>
                <a:spcPts val="1200"/>
              </a:spcBef>
              <a:buNone/>
            </a:pPr>
            <a:r>
              <a:rPr lang="en-US" dirty="0"/>
              <a:t>You need to:</a:t>
            </a:r>
          </a:p>
          <a:p>
            <a:pPr rtl="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Roll back the DB</a:t>
            </a:r>
          </a:p>
          <a:p>
            <a:pPr rtl="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Then remove the migration</a:t>
            </a:r>
          </a:p>
          <a:p>
            <a:pPr marL="114300" indent="0" rtl="0">
              <a:spcBef>
                <a:spcPts val="1200"/>
              </a:spcBef>
              <a:buNone/>
            </a:pPr>
            <a:endParaRPr lang="en-US" dirty="0"/>
          </a:p>
          <a:p>
            <a:pPr marL="114300" indent="0" rtl="0">
              <a:spcBef>
                <a:spcPts val="1200"/>
              </a:spcBef>
              <a:buNone/>
            </a:pPr>
            <a:endParaRPr lang="en-US" dirty="0"/>
          </a:p>
          <a:p>
            <a:pPr marL="114300" indent="0" rtl="0">
              <a:spcBef>
                <a:spcPts val="1200"/>
              </a:spcBef>
              <a:buNone/>
            </a:pPr>
            <a:endParaRPr lang="en-US" dirty="0"/>
          </a:p>
          <a:p>
            <a:pPr marL="114300" indent="0" rtl="0">
              <a:spcBef>
                <a:spcPts val="1200"/>
              </a:spcBef>
              <a:buNone/>
            </a:pPr>
            <a:r>
              <a:rPr lang="en-US" dirty="0"/>
              <a:t>🔁 Replace </a:t>
            </a:r>
            <a:r>
              <a:rPr lang="en-US" b="1" dirty="0" err="1"/>
              <a:t>PreviousMigrationName</a:t>
            </a:r>
            <a:r>
              <a:rPr lang="en-US" dirty="0"/>
              <a:t> with the name of the one before the unwanted ones.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64596E-1522-D9AA-CB00-A1605CA8C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14" y="2739244"/>
            <a:ext cx="7513971" cy="11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2320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EF141-37FA-59BF-883D-B28ECC422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A0CE0-6EED-8865-1816-7C56DA6FE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Seeding Initial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25474-E6E7-0063-9792-4146DFB4F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011044"/>
            <a:ext cx="8221855" cy="3813717"/>
          </a:xfrm>
        </p:spPr>
        <p:txBody>
          <a:bodyPr>
            <a:normAutofit/>
          </a:bodyPr>
          <a:lstStyle/>
          <a:p>
            <a:pPr marL="114300" indent="0" rtl="0">
              <a:spcBef>
                <a:spcPts val="1200"/>
              </a:spcBef>
              <a:buNone/>
            </a:pPr>
            <a:r>
              <a:rPr lang="en-US" b="1" dirty="0"/>
              <a:t>What is Seeding?</a:t>
            </a:r>
            <a:br>
              <a:rPr lang="en-US" dirty="0"/>
            </a:br>
            <a:r>
              <a:rPr lang="en-US" dirty="0"/>
              <a:t>Seeding means adding default records to your database when it is created or updated via a migration.</a:t>
            </a:r>
          </a:p>
          <a:p>
            <a:pPr marL="114300" indent="0" rtl="0">
              <a:spcBef>
                <a:spcPts val="1200"/>
              </a:spcBef>
              <a:buNone/>
            </a:pPr>
            <a:r>
              <a:rPr lang="en-US" dirty="0"/>
              <a:t>Useful for:</a:t>
            </a:r>
          </a:p>
          <a:p>
            <a:pPr lvl="1" rtl="0">
              <a:spcBef>
                <a:spcPts val="1200"/>
              </a:spcBef>
            </a:pPr>
            <a:r>
              <a:rPr lang="en-US" dirty="0"/>
              <a:t>Initial test data</a:t>
            </a:r>
          </a:p>
          <a:p>
            <a:pPr lvl="1" rtl="0">
              <a:spcBef>
                <a:spcPts val="1200"/>
              </a:spcBef>
            </a:pPr>
            <a:r>
              <a:rPr lang="en-US" dirty="0"/>
              <a:t>Reference data (e.g., specialties, roles)</a:t>
            </a:r>
          </a:p>
          <a:p>
            <a:pPr lvl="1" rtl="0">
              <a:spcBef>
                <a:spcPts val="1200"/>
              </a:spcBef>
            </a:pPr>
            <a:r>
              <a:rPr lang="en-US" dirty="0"/>
              <a:t>Bootstrapping the clinic system</a:t>
            </a:r>
          </a:p>
        </p:txBody>
      </p:sp>
    </p:spTree>
    <p:extLst>
      <p:ext uri="{BB962C8B-B14F-4D97-AF65-F5344CB8AC3E}">
        <p14:creationId xmlns:p14="http://schemas.microsoft.com/office/powerpoint/2010/main" val="39610664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57CD0-88CE-3F4E-C3EF-D5DB8B562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198A4-A97D-E468-A10E-DE4C50007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How to Seed Data in EF Core (Code First)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994EA-ECC0-C844-31C8-D0C860355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011044"/>
            <a:ext cx="8221855" cy="3995296"/>
          </a:xfrm>
        </p:spPr>
        <p:txBody>
          <a:bodyPr>
            <a:normAutofit/>
          </a:bodyPr>
          <a:lstStyle/>
          <a:p>
            <a:pPr marL="114300" indent="0" rtl="0">
              <a:spcBef>
                <a:spcPts val="1200"/>
              </a:spcBef>
              <a:buNone/>
            </a:pPr>
            <a:r>
              <a:rPr lang="en-US" dirty="0"/>
              <a:t>Override </a:t>
            </a:r>
            <a:r>
              <a:rPr lang="en-US" b="1" dirty="0" err="1"/>
              <a:t>OnModelCreating</a:t>
            </a:r>
            <a:r>
              <a:rPr lang="en-US" dirty="0"/>
              <a:t> in your </a:t>
            </a:r>
            <a:r>
              <a:rPr lang="en-US" b="1" dirty="0" err="1"/>
              <a:t>DbContext</a:t>
            </a:r>
            <a:r>
              <a:rPr lang="en-US" dirty="0"/>
              <a:t>:</a:t>
            </a:r>
          </a:p>
          <a:p>
            <a:pPr marL="114300" indent="0" rtl="0">
              <a:spcBef>
                <a:spcPts val="1200"/>
              </a:spcBef>
              <a:buNone/>
            </a:pPr>
            <a:endParaRPr lang="en-US" dirty="0"/>
          </a:p>
          <a:p>
            <a:pPr marL="114300" indent="0" rtl="0">
              <a:spcBef>
                <a:spcPts val="1200"/>
              </a:spcBef>
              <a:buNone/>
            </a:pPr>
            <a:endParaRPr lang="en-US" dirty="0"/>
          </a:p>
          <a:p>
            <a:pPr marL="114300" indent="0" rtl="0">
              <a:spcBef>
                <a:spcPts val="1200"/>
              </a:spcBef>
              <a:buNone/>
            </a:pPr>
            <a:endParaRPr lang="en-US" dirty="0"/>
          </a:p>
          <a:p>
            <a:pPr marL="114300" indent="0" rtl="0">
              <a:spcBef>
                <a:spcPts val="1200"/>
              </a:spcBef>
              <a:buNone/>
            </a:pPr>
            <a:endParaRPr lang="en-US" dirty="0"/>
          </a:p>
          <a:p>
            <a:pPr marL="114300" indent="0" rtl="0">
              <a:spcBef>
                <a:spcPts val="1200"/>
              </a:spcBef>
              <a:buNone/>
            </a:pPr>
            <a:endParaRPr lang="en-US" dirty="0"/>
          </a:p>
          <a:p>
            <a:pPr marL="114300" indent="0" rtl="0">
              <a:spcBef>
                <a:spcPts val="1200"/>
              </a:spcBef>
              <a:buNone/>
            </a:pPr>
            <a:endParaRPr lang="en-US" dirty="0"/>
          </a:p>
          <a:p>
            <a:pPr marL="114300" indent="0" rtl="0">
              <a:spcBef>
                <a:spcPts val="1200"/>
              </a:spcBef>
              <a:buNone/>
            </a:pPr>
            <a:r>
              <a:rPr lang="en-US" dirty="0"/>
              <a:t>Then add new migration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C23D6D-6814-07EE-32E6-724450D30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296" y="1600060"/>
            <a:ext cx="6523044" cy="2823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7309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BFB89-B901-A9A5-10BF-67B9E08CC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EBDEA-692E-7A59-944E-E0DE87CE5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Best Practices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422A7-151E-877A-1A7A-50E2F4A76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308410"/>
            <a:ext cx="8221855" cy="3516351"/>
          </a:xfrm>
        </p:spPr>
        <p:txBody>
          <a:bodyPr>
            <a:normAutofit/>
          </a:bodyPr>
          <a:lstStyle/>
          <a:p>
            <a:pPr marL="114300" indent="0" rtl="0">
              <a:spcBef>
                <a:spcPts val="1200"/>
              </a:spcBef>
              <a:buNone/>
            </a:pPr>
            <a:r>
              <a:rPr lang="en-US" dirty="0"/>
              <a:t>✅ Use clear names for each migration</a:t>
            </a:r>
          </a:p>
          <a:p>
            <a:pPr marL="114300" indent="0" rtl="0">
              <a:spcBef>
                <a:spcPts val="1200"/>
              </a:spcBef>
              <a:buNone/>
            </a:pPr>
            <a:r>
              <a:rPr lang="en-US" dirty="0"/>
              <a:t>✅ Always run </a:t>
            </a:r>
            <a:r>
              <a:rPr lang="en-US" b="1" dirty="0"/>
              <a:t>Update-Database</a:t>
            </a:r>
            <a:r>
              <a:rPr lang="en-US" dirty="0"/>
              <a:t> after </a:t>
            </a:r>
            <a:r>
              <a:rPr lang="en-US" b="1" dirty="0"/>
              <a:t>Add-Migration</a:t>
            </a:r>
          </a:p>
          <a:p>
            <a:pPr marL="114300" indent="0" rtl="0">
              <a:spcBef>
                <a:spcPts val="1200"/>
              </a:spcBef>
              <a:buNone/>
            </a:pPr>
            <a:r>
              <a:rPr lang="en-US" dirty="0"/>
              <a:t>❌ Don’t edit migration files unless you're confident</a:t>
            </a:r>
          </a:p>
          <a:p>
            <a:pPr marL="114300" indent="0" rtl="0">
              <a:spcBef>
                <a:spcPts val="1200"/>
              </a:spcBef>
              <a:buNone/>
            </a:pPr>
            <a:r>
              <a:rPr lang="en-US" dirty="0"/>
              <a:t>✅ Commit migration files to Git</a:t>
            </a:r>
          </a:p>
        </p:txBody>
      </p:sp>
    </p:spTree>
    <p:extLst>
      <p:ext uri="{BB962C8B-B14F-4D97-AF65-F5344CB8AC3E}">
        <p14:creationId xmlns:p14="http://schemas.microsoft.com/office/powerpoint/2010/main" val="6007075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>
          <a:extLst>
            <a:ext uri="{FF2B5EF4-FFF2-40B4-BE49-F238E27FC236}">
              <a16:creationId xmlns:a16="http://schemas.microsoft.com/office/drawing/2014/main" id="{12867144-E470-947D-393B-3CDA6624E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>
            <a:extLst>
              <a:ext uri="{FF2B5EF4-FFF2-40B4-BE49-F238E27FC236}">
                <a16:creationId xmlns:a16="http://schemas.microsoft.com/office/drawing/2014/main" id="{7C0F89A4-62A7-861C-01A9-98CC7B844B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27261" y="1590000"/>
            <a:ext cx="7354175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4800" b="1" dirty="0">
                <a:solidFill>
                  <a:srgbClr val="58E3D8"/>
                </a:solidFill>
              </a:rPr>
              <a:t>CRUD</a:t>
            </a:r>
            <a:r>
              <a:rPr lang="en-US" sz="4800" b="1" dirty="0">
                <a:solidFill>
                  <a:srgbClr val="EEEDED"/>
                </a:solidFill>
              </a:rPr>
              <a:t> Operations using </a:t>
            </a:r>
            <a:r>
              <a:rPr lang="en-US" sz="4800" b="1" dirty="0" err="1">
                <a:solidFill>
                  <a:srgbClr val="58E3D8"/>
                </a:solidFill>
              </a:rPr>
              <a:t>DbContext</a:t>
            </a:r>
            <a:endParaRPr sz="4800" b="1" dirty="0">
              <a:solidFill>
                <a:srgbClr val="58E3D8"/>
              </a:solidFill>
              <a:latin typeface="IBM Plex Sans Arabic SemiBold"/>
              <a:cs typeface="IBM Plex Sans Arabic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9936347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1F604-1D3C-32F4-B1D1-688AEDAB0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8ABF5-B5CF-24FB-7932-D6D2412E6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Learning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CED7A-E480-0690-6294-BE6DDEC7C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334149"/>
            <a:ext cx="8221855" cy="3096601"/>
          </a:xfrm>
        </p:spPr>
        <p:txBody>
          <a:bodyPr/>
          <a:lstStyle/>
          <a:p>
            <a:pPr rtl="0"/>
            <a:r>
              <a:rPr lang="en-US" dirty="0"/>
              <a:t>By the end of this lesson, you will:</a:t>
            </a:r>
          </a:p>
          <a:p>
            <a:pPr lvl="1" rtl="0">
              <a:lnSpc>
                <a:spcPct val="200000"/>
              </a:lnSpc>
            </a:pPr>
            <a:r>
              <a:rPr lang="en-US" sz="1600" dirty="0"/>
              <a:t>Use </a:t>
            </a:r>
            <a:r>
              <a:rPr lang="en-US" sz="1600" b="1" dirty="0" err="1"/>
              <a:t>DbContext</a:t>
            </a:r>
            <a:r>
              <a:rPr lang="en-US" sz="1600" dirty="0"/>
              <a:t> to perform </a:t>
            </a:r>
            <a:r>
              <a:rPr lang="en-US" sz="1600" b="1" dirty="0"/>
              <a:t>CRUD</a:t>
            </a:r>
            <a:r>
              <a:rPr lang="en-US" sz="1600" dirty="0"/>
              <a:t> operations</a:t>
            </a:r>
          </a:p>
          <a:p>
            <a:pPr lvl="1" rtl="0">
              <a:lnSpc>
                <a:spcPct val="200000"/>
              </a:lnSpc>
            </a:pPr>
            <a:r>
              <a:rPr lang="en-US" dirty="0"/>
              <a:t>Understand how </a:t>
            </a:r>
            <a:r>
              <a:rPr lang="en-US" b="1" dirty="0"/>
              <a:t>EF Core</a:t>
            </a:r>
            <a:r>
              <a:rPr lang="en-US" dirty="0"/>
              <a:t> tracks and saves changes</a:t>
            </a:r>
            <a:endParaRPr lang="en-US" b="1" dirty="0"/>
          </a:p>
          <a:p>
            <a:pPr lvl="1" rtl="0">
              <a:lnSpc>
                <a:spcPct val="200000"/>
              </a:lnSpc>
            </a:pPr>
            <a:r>
              <a:rPr lang="en-US" dirty="0"/>
              <a:t>Apply </a:t>
            </a:r>
            <a:r>
              <a:rPr lang="en-US" b="1" dirty="0"/>
              <a:t>CRUD</a:t>
            </a:r>
            <a:r>
              <a:rPr lang="en-US" dirty="0"/>
              <a:t> in the context of a clinic appointment system</a:t>
            </a:r>
          </a:p>
        </p:txBody>
      </p:sp>
    </p:spTree>
    <p:extLst>
      <p:ext uri="{BB962C8B-B14F-4D97-AF65-F5344CB8AC3E}">
        <p14:creationId xmlns:p14="http://schemas.microsoft.com/office/powerpoint/2010/main" val="39699530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BFE3D-57E9-E456-1737-42EAA526E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35BB4-2B56-D132-6010-CC0482ED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What is </a:t>
            </a:r>
            <a:r>
              <a:rPr lang="en-US" dirty="0" err="1"/>
              <a:t>DbContext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7F21A1-D806-EB60-A902-9817E6EF6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334149"/>
            <a:ext cx="8221855" cy="3096601"/>
          </a:xfrm>
        </p:spPr>
        <p:txBody>
          <a:bodyPr/>
          <a:lstStyle/>
          <a:p>
            <a:pPr rtl="0">
              <a:spcAft>
                <a:spcPts val="1200"/>
              </a:spcAft>
            </a:pPr>
            <a:r>
              <a:rPr lang="en-US" b="1" dirty="0" err="1"/>
              <a:t>DbContext</a:t>
            </a:r>
            <a:r>
              <a:rPr lang="en-US" dirty="0"/>
              <a:t> is the main class in </a:t>
            </a:r>
            <a:r>
              <a:rPr lang="en-US" b="1" dirty="0"/>
              <a:t>EF Core</a:t>
            </a:r>
            <a:r>
              <a:rPr lang="en-US" dirty="0"/>
              <a:t> to interact with the database.</a:t>
            </a:r>
          </a:p>
          <a:p>
            <a:pPr rtl="0">
              <a:spcAft>
                <a:spcPts val="1200"/>
              </a:spcAft>
            </a:pPr>
            <a:r>
              <a:rPr lang="en-US" dirty="0"/>
              <a:t>It manages:</a:t>
            </a:r>
          </a:p>
          <a:p>
            <a:pPr lvl="1" rtl="0"/>
            <a:r>
              <a:rPr lang="en-US" dirty="0"/>
              <a:t>Queries</a:t>
            </a:r>
          </a:p>
          <a:p>
            <a:pPr lvl="1" rtl="0"/>
            <a:r>
              <a:rPr lang="en-US" dirty="0"/>
              <a:t>Tracking</a:t>
            </a:r>
          </a:p>
          <a:p>
            <a:pPr lvl="1" rtl="0"/>
            <a:r>
              <a:rPr lang="en-US" dirty="0"/>
              <a:t>Saving changes</a:t>
            </a:r>
          </a:p>
          <a:p>
            <a:pPr marL="114300" indent="0" rtl="0">
              <a:spcAft>
                <a:spcPts val="1200"/>
              </a:spcAft>
              <a:buNone/>
            </a:pPr>
            <a:endParaRPr lang="en-US" dirty="0"/>
          </a:p>
          <a:p>
            <a:pPr marL="114300" indent="0" rtl="0">
              <a:spcAft>
                <a:spcPts val="1200"/>
              </a:spcAft>
              <a:buNone/>
            </a:pPr>
            <a:r>
              <a:rPr lang="en-US" dirty="0"/>
              <a:t>📌 Think of it as the gateway to your SQL Server database.</a:t>
            </a:r>
          </a:p>
        </p:txBody>
      </p:sp>
    </p:spTree>
    <p:extLst>
      <p:ext uri="{BB962C8B-B14F-4D97-AF65-F5344CB8AC3E}">
        <p14:creationId xmlns:p14="http://schemas.microsoft.com/office/powerpoint/2010/main" val="40328964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4DF5B-B32F-B228-5A9A-B241B2207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D0C28-2B5E-7AE1-9D60-517388945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Create (Add New Record)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D0560-E64F-9544-9971-1A12121FF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334149"/>
            <a:ext cx="8221855" cy="3096601"/>
          </a:xfrm>
        </p:spPr>
        <p:txBody>
          <a:bodyPr/>
          <a:lstStyle/>
          <a:p>
            <a:pPr rtl="0"/>
            <a:r>
              <a:rPr lang="en-US" dirty="0"/>
              <a:t>Add a new patient:</a:t>
            </a:r>
          </a:p>
          <a:p>
            <a:pPr rtl="0"/>
            <a:endParaRPr lang="en-US" dirty="0"/>
          </a:p>
          <a:p>
            <a:pPr rtl="0"/>
            <a:endParaRPr lang="en-US" dirty="0"/>
          </a:p>
          <a:p>
            <a:pPr rtl="0"/>
            <a:endParaRPr lang="en-US" dirty="0"/>
          </a:p>
          <a:p>
            <a:pPr rtl="0"/>
            <a:endParaRPr lang="en-US" dirty="0"/>
          </a:p>
          <a:p>
            <a:pPr rtl="0"/>
            <a:endParaRPr lang="en-US" dirty="0"/>
          </a:p>
          <a:p>
            <a:pPr rtl="0"/>
            <a:endParaRPr lang="en-US" dirty="0"/>
          </a:p>
          <a:p>
            <a:pPr rtl="0"/>
            <a:endParaRPr lang="en-US" dirty="0"/>
          </a:p>
          <a:p>
            <a:pPr marL="114300" indent="0" rtl="0">
              <a:buNone/>
            </a:pPr>
            <a:r>
              <a:rPr lang="en-US" dirty="0"/>
              <a:t>🧠 </a:t>
            </a:r>
            <a:r>
              <a:rPr lang="en-US" b="1" dirty="0"/>
              <a:t>Add()</a:t>
            </a:r>
            <a:r>
              <a:rPr lang="en-US" dirty="0"/>
              <a:t> stages the object, </a:t>
            </a:r>
            <a:r>
              <a:rPr lang="en-US" b="1" dirty="0" err="1"/>
              <a:t>SaveChanges</a:t>
            </a:r>
            <a:r>
              <a:rPr lang="en-US" b="1" dirty="0"/>
              <a:t>()</a:t>
            </a:r>
            <a:r>
              <a:rPr lang="en-US" dirty="0"/>
              <a:t> persists it.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70569E-6EDA-2274-2ACF-DEC4BE020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2059" y="1833639"/>
            <a:ext cx="3939881" cy="199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7507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27AF5-7CEE-8DEF-D80D-F2412B369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8FFB3-94D2-E044-5671-756ED567C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Read (Retrieve Records)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75EE68-380C-75BA-556A-822E19751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073958"/>
            <a:ext cx="8221855" cy="3096601"/>
          </a:xfrm>
        </p:spPr>
        <p:txBody>
          <a:bodyPr/>
          <a:lstStyle/>
          <a:p>
            <a:pPr marL="114300" indent="0" rtl="0">
              <a:buNone/>
            </a:pPr>
            <a:r>
              <a:rPr lang="en-US" dirty="0"/>
              <a:t>🔹 Get all doctors:</a:t>
            </a:r>
          </a:p>
          <a:p>
            <a:pPr marL="114300" indent="0" rtl="0">
              <a:buNone/>
            </a:pPr>
            <a:endParaRPr lang="en-US" dirty="0"/>
          </a:p>
          <a:p>
            <a:pPr marL="114300" indent="0" rtl="0">
              <a:buNone/>
            </a:pPr>
            <a:endParaRPr lang="en-US" dirty="0"/>
          </a:p>
          <a:p>
            <a:pPr marL="114300" indent="0" rtl="0">
              <a:buNone/>
            </a:pPr>
            <a:endParaRPr lang="en-US" dirty="0"/>
          </a:p>
          <a:p>
            <a:pPr marL="114300" indent="0" rtl="0">
              <a:buNone/>
            </a:pPr>
            <a:r>
              <a:rPr lang="en-US" dirty="0"/>
              <a:t>🔹 Find a doctor by ID:</a:t>
            </a:r>
          </a:p>
          <a:p>
            <a:pPr marL="114300" indent="0" rtl="0">
              <a:buNone/>
            </a:pPr>
            <a:endParaRPr lang="en-US" dirty="0"/>
          </a:p>
          <a:p>
            <a:pPr marL="114300" indent="0" rtl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C50C18-AAE3-21E4-308A-40563E29B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2059" y="1707791"/>
            <a:ext cx="3939881" cy="4343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2F5DBA-5AEC-6F74-BCEC-1613B8499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921" y="2922993"/>
            <a:ext cx="3894157" cy="45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3954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54E22-0459-6B18-91FB-112476B10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96BD1-7203-00F4-CCC6-D8513C0B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Update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830233-C5BF-B2B6-AACE-72023FFE6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334149"/>
            <a:ext cx="8221855" cy="3096601"/>
          </a:xfrm>
        </p:spPr>
        <p:txBody>
          <a:bodyPr/>
          <a:lstStyle/>
          <a:p>
            <a:pPr rtl="0"/>
            <a:r>
              <a:rPr lang="en-US" dirty="0"/>
              <a:t>Update appointment date:</a:t>
            </a:r>
          </a:p>
          <a:p>
            <a:pPr rtl="0"/>
            <a:endParaRPr lang="en-US" dirty="0"/>
          </a:p>
          <a:p>
            <a:pPr rtl="0"/>
            <a:endParaRPr lang="en-US" dirty="0"/>
          </a:p>
          <a:p>
            <a:pPr rtl="0"/>
            <a:endParaRPr lang="en-US" dirty="0"/>
          </a:p>
          <a:p>
            <a:pPr rtl="0"/>
            <a:endParaRPr lang="en-US" dirty="0"/>
          </a:p>
          <a:p>
            <a:pPr rtl="0"/>
            <a:endParaRPr lang="en-US" dirty="0"/>
          </a:p>
          <a:p>
            <a:pPr rtl="0"/>
            <a:endParaRPr lang="en-US" dirty="0"/>
          </a:p>
          <a:p>
            <a:pPr rtl="0"/>
            <a:endParaRPr lang="en-US" dirty="0"/>
          </a:p>
          <a:p>
            <a:pPr marL="114300" indent="0" rtl="0">
              <a:buNone/>
            </a:pPr>
            <a:r>
              <a:rPr lang="en-US" dirty="0"/>
              <a:t>🧠 </a:t>
            </a:r>
            <a:r>
              <a:rPr lang="en-US" b="1" dirty="0"/>
              <a:t>EF Core</a:t>
            </a:r>
            <a:r>
              <a:rPr lang="en-US" dirty="0"/>
              <a:t> tracks the change automatically.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673BCF-D07E-8230-4E95-FBE489A27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962" y="1935425"/>
            <a:ext cx="7110076" cy="127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6431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7E697-EF0A-5FF1-84D1-8D1754F0A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15998-8DC3-6339-E6A6-86BB0D882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Delete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BED97-F4BD-D5E9-8D10-E0AAF8D12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334149"/>
            <a:ext cx="8221855" cy="3096601"/>
          </a:xfrm>
        </p:spPr>
        <p:txBody>
          <a:bodyPr>
            <a:normAutofit lnSpcReduction="10000"/>
          </a:bodyPr>
          <a:lstStyle/>
          <a:p>
            <a:pPr rtl="0"/>
            <a:r>
              <a:rPr lang="en-US" dirty="0"/>
              <a:t>Delete a patient:</a:t>
            </a:r>
          </a:p>
          <a:p>
            <a:pPr rtl="0"/>
            <a:endParaRPr lang="en-US" dirty="0"/>
          </a:p>
          <a:p>
            <a:pPr rtl="0"/>
            <a:endParaRPr lang="en-US" dirty="0"/>
          </a:p>
          <a:p>
            <a:pPr rtl="0"/>
            <a:endParaRPr lang="en-US" dirty="0"/>
          </a:p>
          <a:p>
            <a:pPr rtl="0"/>
            <a:endParaRPr lang="en-US" dirty="0"/>
          </a:p>
          <a:p>
            <a:pPr rtl="0"/>
            <a:endParaRPr lang="en-US" dirty="0"/>
          </a:p>
          <a:p>
            <a:pPr rtl="0"/>
            <a:endParaRPr lang="en-US" dirty="0"/>
          </a:p>
          <a:p>
            <a:pPr rtl="0"/>
            <a:endParaRPr lang="en-US" dirty="0"/>
          </a:p>
          <a:p>
            <a:pPr marL="114300" indent="0" rtl="0">
              <a:buNone/>
            </a:pPr>
            <a:r>
              <a:rPr lang="en-US" dirty="0"/>
              <a:t>🔒 Always validate before deletion — don’t break foreign keys (e.g., if a patient has appointments).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0692F0-67E8-E1F7-ADD7-8A5FEB58F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083" y="1828735"/>
            <a:ext cx="7315834" cy="148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67456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>
          <a:extLst>
            <a:ext uri="{FF2B5EF4-FFF2-40B4-BE49-F238E27FC236}">
              <a16:creationId xmlns:a16="http://schemas.microsoft.com/office/drawing/2014/main" id="{DE36831A-3C53-8C53-D038-95CEAFB13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>
            <a:extLst>
              <a:ext uri="{FF2B5EF4-FFF2-40B4-BE49-F238E27FC236}">
                <a16:creationId xmlns:a16="http://schemas.microsoft.com/office/drawing/2014/main" id="{264D437C-4994-C38E-2BD2-D750691F44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27261" y="1590000"/>
            <a:ext cx="7354175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4800" b="1" dirty="0">
                <a:solidFill>
                  <a:srgbClr val="58E3D8"/>
                </a:solidFill>
              </a:rPr>
              <a:t>LINQ</a:t>
            </a:r>
            <a:r>
              <a:rPr lang="en-US" sz="4800" b="1" dirty="0">
                <a:solidFill>
                  <a:srgbClr val="EEEDED"/>
                </a:solidFill>
              </a:rPr>
              <a:t> Queries with EF Core</a:t>
            </a:r>
            <a:endParaRPr sz="4800" b="1" dirty="0">
              <a:solidFill>
                <a:srgbClr val="58E3D8"/>
              </a:solidFill>
              <a:latin typeface="IBM Plex Sans Arabic SemiBold"/>
              <a:cs typeface="IBM Plex Sans Arabic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6422873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006FD-3D6B-9FBD-B0D7-ABCA84997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164E3-D976-A949-4BF9-9125E1C2D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Learning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179146-9854-7DFC-F6EF-FAA7736C1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334149"/>
            <a:ext cx="8221855" cy="3096601"/>
          </a:xfrm>
        </p:spPr>
        <p:txBody>
          <a:bodyPr/>
          <a:lstStyle/>
          <a:p>
            <a:pPr rtl="0"/>
            <a:r>
              <a:rPr lang="en-US" dirty="0"/>
              <a:t>By the end of this lesson, you will:</a:t>
            </a:r>
          </a:p>
          <a:p>
            <a:pPr lvl="1" rtl="0">
              <a:lnSpc>
                <a:spcPct val="200000"/>
              </a:lnSpc>
            </a:pPr>
            <a:r>
              <a:rPr lang="en-US" sz="1600" dirty="0"/>
              <a:t>Understand what </a:t>
            </a:r>
            <a:r>
              <a:rPr lang="en-US" sz="1600" b="1" dirty="0"/>
              <a:t>LINQ</a:t>
            </a:r>
            <a:r>
              <a:rPr lang="en-US" sz="1600" dirty="0"/>
              <a:t> is and why it’s used</a:t>
            </a:r>
          </a:p>
          <a:p>
            <a:pPr lvl="1" rtl="0">
              <a:lnSpc>
                <a:spcPct val="200000"/>
              </a:lnSpc>
            </a:pPr>
            <a:r>
              <a:rPr lang="en-US" dirty="0"/>
              <a:t>Perform basic and advanced queries using </a:t>
            </a:r>
            <a:r>
              <a:rPr lang="en-US" b="1" dirty="0"/>
              <a:t>LINQ</a:t>
            </a:r>
          </a:p>
          <a:p>
            <a:pPr lvl="1" rtl="0">
              <a:lnSpc>
                <a:spcPct val="200000"/>
              </a:lnSpc>
            </a:pPr>
            <a:r>
              <a:rPr lang="en-US" dirty="0"/>
              <a:t>Query relational data using EF Core</a:t>
            </a:r>
          </a:p>
          <a:p>
            <a:pPr lvl="1" rtl="0">
              <a:lnSpc>
                <a:spcPct val="200000"/>
              </a:lnSpc>
            </a:pPr>
            <a:r>
              <a:rPr lang="en-US" dirty="0"/>
              <a:t>Apply filters, projections, sorting, grouping — all using C#</a:t>
            </a:r>
          </a:p>
        </p:txBody>
      </p:sp>
    </p:spTree>
    <p:extLst>
      <p:ext uri="{BB962C8B-B14F-4D97-AF65-F5344CB8AC3E}">
        <p14:creationId xmlns:p14="http://schemas.microsoft.com/office/powerpoint/2010/main" val="87823698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C3280-F325-987B-8A07-A126703FA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3DA96-6972-47AE-D857-B698EA99B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What is LINQ?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DFA0C-D329-14A5-6E4B-92E322DC3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334149"/>
            <a:ext cx="8221855" cy="3096601"/>
          </a:xfrm>
        </p:spPr>
        <p:txBody>
          <a:bodyPr>
            <a:normAutofit/>
          </a:bodyPr>
          <a:lstStyle/>
          <a:p>
            <a:pPr marL="114300" indent="0" rtl="0">
              <a:buNone/>
            </a:pPr>
            <a:r>
              <a:rPr lang="en-US" b="1" dirty="0"/>
              <a:t>LINQ (Language Integrated Query)</a:t>
            </a:r>
          </a:p>
          <a:p>
            <a:pPr marL="114300" indent="0" rtl="0">
              <a:buNone/>
            </a:pPr>
            <a:r>
              <a:rPr lang="en-US" dirty="0"/>
              <a:t>➡️ A feature in C# to </a:t>
            </a:r>
            <a:r>
              <a:rPr lang="en-US" b="1" dirty="0"/>
              <a:t>query collections</a:t>
            </a:r>
            <a:r>
              <a:rPr lang="en-US" dirty="0"/>
              <a:t> (like lists or DB sets) using a readable, SQL-like syntax.</a:t>
            </a:r>
          </a:p>
          <a:p>
            <a:pPr rtl="0">
              <a:spcBef>
                <a:spcPts val="1200"/>
              </a:spcBef>
            </a:pPr>
            <a:r>
              <a:rPr lang="en-US" dirty="0"/>
              <a:t>EF Core allows you to write </a:t>
            </a:r>
            <a:r>
              <a:rPr lang="en-US" b="1" dirty="0"/>
              <a:t>LINQ</a:t>
            </a:r>
            <a:r>
              <a:rPr lang="en-US" dirty="0"/>
              <a:t> to query the database using:</a:t>
            </a:r>
          </a:p>
          <a:p>
            <a:pPr lvl="1" rtl="0">
              <a:lnSpc>
                <a:spcPct val="200000"/>
              </a:lnSpc>
            </a:pPr>
            <a:r>
              <a:rPr lang="en-US" sz="1600" dirty="0"/>
              <a:t>Strong typing</a:t>
            </a:r>
          </a:p>
          <a:p>
            <a:pPr lvl="1" rtl="0">
              <a:lnSpc>
                <a:spcPct val="200000"/>
              </a:lnSpc>
            </a:pPr>
            <a:r>
              <a:rPr lang="en-US" dirty="0"/>
              <a:t>IntelliSense support</a:t>
            </a:r>
            <a:endParaRPr lang="en-US" b="1" dirty="0"/>
          </a:p>
          <a:p>
            <a:pPr lvl="1" rtl="0">
              <a:lnSpc>
                <a:spcPct val="200000"/>
              </a:lnSpc>
            </a:pPr>
            <a:r>
              <a:rPr lang="en-US" dirty="0"/>
              <a:t>Compile-time validation</a:t>
            </a:r>
          </a:p>
        </p:txBody>
      </p:sp>
    </p:spTree>
    <p:extLst>
      <p:ext uri="{BB962C8B-B14F-4D97-AF65-F5344CB8AC3E}">
        <p14:creationId xmlns:p14="http://schemas.microsoft.com/office/powerpoint/2010/main" val="365637488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8556A-5E5E-6301-49AB-2619139B7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2C877-0C2E-94A9-4FA2-25A98279F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LINQ vs SQL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015F5-C382-071E-5022-2C498AFC2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3560956"/>
            <a:ext cx="8221855" cy="869794"/>
          </a:xfrm>
        </p:spPr>
        <p:txBody>
          <a:bodyPr>
            <a:normAutofit/>
          </a:bodyPr>
          <a:lstStyle/>
          <a:p>
            <a:pPr marL="114300" indent="0" rtl="0">
              <a:buNone/>
            </a:pPr>
            <a:r>
              <a:rPr lang="en-US" dirty="0"/>
              <a:t>💡 </a:t>
            </a:r>
            <a:r>
              <a:rPr lang="en-US" b="1" dirty="0"/>
              <a:t>LINQ</a:t>
            </a:r>
            <a:r>
              <a:rPr lang="en-US" dirty="0"/>
              <a:t> is safer and easier to refactor than raw </a:t>
            </a:r>
            <a:r>
              <a:rPr lang="en-US" b="1" dirty="0"/>
              <a:t>SQL</a:t>
            </a:r>
            <a:r>
              <a:rPr lang="en-US" dirty="0"/>
              <a:t>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84AC81-A2AD-FDF2-364D-7A9539FDD9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955598"/>
              </p:ext>
            </p:extLst>
          </p:nvPr>
        </p:nvGraphicFramePr>
        <p:xfrm>
          <a:off x="385336" y="1411562"/>
          <a:ext cx="8521700" cy="188976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4260850">
                  <a:extLst>
                    <a:ext uri="{9D8B030D-6E8A-4147-A177-3AD203B41FA5}">
                      <a16:colId xmlns:a16="http://schemas.microsoft.com/office/drawing/2014/main" val="1535353632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val="92116764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SQL</a:t>
                      </a:r>
                    </a:p>
                  </a:txBody>
                  <a:tcPr anchor="ctr">
                    <a:solidFill>
                      <a:srgbClr val="5431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LINQ (Method Syntax)</a:t>
                      </a:r>
                    </a:p>
                  </a:txBody>
                  <a:tcPr anchor="ctr">
                    <a:solidFill>
                      <a:srgbClr val="5431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885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SELECT * FROM Patients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context.Patients.ToList()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457645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SELECT * FROM Appointments </a:t>
                      </a:r>
                      <a:br>
                        <a:rPr lang="en-US" dirty="0"/>
                      </a:br>
                      <a:r>
                        <a:rPr lang="en-US" dirty="0"/>
                        <a:t>WHERE </a:t>
                      </a:r>
                      <a:r>
                        <a:rPr lang="en-US" dirty="0" err="1"/>
                        <a:t>DoctorId</a:t>
                      </a:r>
                      <a:r>
                        <a:rPr lang="en-US" dirty="0"/>
                        <a:t> =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context.Appointments.Where(a =&gt; a.DoctorId == 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340344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SELECT Name FROM Doctors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context.Doctors.Select</a:t>
                      </a:r>
                      <a:r>
                        <a:rPr lang="en-US" dirty="0"/>
                        <a:t>(d =&gt; </a:t>
                      </a:r>
                      <a:r>
                        <a:rPr lang="en-US" dirty="0" err="1"/>
                        <a:t>d.Name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5078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957405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AE780-6857-AD70-93F0-8921A6F51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0D3D4-502C-807B-ADBD-A3D955F2B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Basic LINQ Queries in EF Core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7346A-CF94-5216-4437-2A8F419A4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334149"/>
            <a:ext cx="8221855" cy="3096601"/>
          </a:xfrm>
        </p:spPr>
        <p:txBody>
          <a:bodyPr/>
          <a:lstStyle/>
          <a:p>
            <a:pPr marL="114300" indent="0" rtl="0">
              <a:buNone/>
            </a:pPr>
            <a:r>
              <a:rPr lang="en-US" dirty="0"/>
              <a:t>🔹 Get All Patients:</a:t>
            </a:r>
          </a:p>
          <a:p>
            <a:pPr marL="114300" indent="0" rtl="0">
              <a:buNone/>
            </a:pPr>
            <a:endParaRPr lang="en-US" dirty="0"/>
          </a:p>
          <a:p>
            <a:pPr marL="114300" indent="0" rtl="0">
              <a:buNone/>
            </a:pPr>
            <a:endParaRPr lang="en-US" dirty="0"/>
          </a:p>
          <a:p>
            <a:pPr marL="114300" indent="0" rtl="0">
              <a:buNone/>
            </a:pPr>
            <a:r>
              <a:rPr lang="en-US" dirty="0"/>
              <a:t>🔹 Filter by Age:</a:t>
            </a:r>
          </a:p>
          <a:p>
            <a:pPr marL="114300" indent="0" rtl="0">
              <a:buNone/>
            </a:pPr>
            <a:endParaRPr lang="en-US" dirty="0"/>
          </a:p>
          <a:p>
            <a:pPr marL="114300" indent="0" rtl="0">
              <a:buNone/>
            </a:pPr>
            <a:endParaRPr lang="en-US" dirty="0"/>
          </a:p>
          <a:p>
            <a:pPr marL="114300" indent="0" rtl="0">
              <a:buNone/>
            </a:pPr>
            <a:r>
              <a:rPr lang="en-US" dirty="0"/>
              <a:t>🔹 Find by ID: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74BF5D-0CE8-269C-E56A-1844FF523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578" y="1826737"/>
            <a:ext cx="4884843" cy="4343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BC8C9C-B9DE-404A-D604-5D741211F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423" y="2736951"/>
            <a:ext cx="4999153" cy="4724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1EFE10-C82C-FE3E-EF73-5EE2F5CD93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0510" y="3674023"/>
            <a:ext cx="5082980" cy="441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22408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926F7-8C72-F385-76C6-965D137FD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79FDA-CA17-C36F-28E2-2D018FBEA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Selecting Specific Fields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1E4CA-DDA0-FF66-96BB-03C4396F9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334149"/>
            <a:ext cx="8221855" cy="3423705"/>
          </a:xfrm>
        </p:spPr>
        <p:txBody>
          <a:bodyPr/>
          <a:lstStyle/>
          <a:p>
            <a:pPr marL="114300" indent="0" rtl="0">
              <a:buNone/>
            </a:pPr>
            <a:endParaRPr lang="en-US" dirty="0"/>
          </a:p>
          <a:p>
            <a:pPr marL="114300" indent="0" rtl="0">
              <a:buNone/>
            </a:pPr>
            <a:endParaRPr lang="en-US" dirty="0"/>
          </a:p>
          <a:p>
            <a:pPr marL="114300" indent="0" rtl="0">
              <a:buNone/>
            </a:pPr>
            <a:endParaRPr lang="en-US" dirty="0"/>
          </a:p>
          <a:p>
            <a:pPr marL="114300" indent="0" rtl="0">
              <a:buNone/>
            </a:pPr>
            <a:endParaRPr lang="en-US" dirty="0"/>
          </a:p>
          <a:p>
            <a:pPr marL="114300" indent="0" rtl="0">
              <a:buNone/>
            </a:pPr>
            <a:endParaRPr lang="en-US" dirty="0"/>
          </a:p>
          <a:p>
            <a:pPr marL="114300" indent="0" rtl="0">
              <a:buNone/>
            </a:pPr>
            <a:endParaRPr lang="en-US" dirty="0"/>
          </a:p>
          <a:p>
            <a:pPr marL="114300" indent="0" rtl="0">
              <a:buNone/>
            </a:pPr>
            <a:endParaRPr lang="en-US" dirty="0"/>
          </a:p>
          <a:p>
            <a:pPr marL="114300" indent="0" rtl="0">
              <a:buNone/>
            </a:pPr>
            <a:endParaRPr lang="en-US" dirty="0"/>
          </a:p>
          <a:p>
            <a:pPr marL="114300" indent="0" rtl="0">
              <a:buNone/>
            </a:pPr>
            <a:endParaRPr lang="en-US" dirty="0"/>
          </a:p>
          <a:p>
            <a:pPr marL="114300" indent="0" rtl="0">
              <a:buNone/>
            </a:pPr>
            <a:r>
              <a:rPr lang="en-US" dirty="0"/>
              <a:t>✅ Great for performance (queries only needed columns)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4D0FD8-6024-2285-B353-EF60332D9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152" y="1150497"/>
            <a:ext cx="7559695" cy="284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6495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CA7BA-4ADE-FBCB-1F46-EDEEE773E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9B94A-6FE9-1F15-4035-A45A09B89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Sorting and Grouping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56C52-FB00-76D9-6A3B-B9607F4A0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073958"/>
            <a:ext cx="8221855" cy="3096601"/>
          </a:xfrm>
        </p:spPr>
        <p:txBody>
          <a:bodyPr/>
          <a:lstStyle/>
          <a:p>
            <a:pPr marL="114300" indent="0" rtl="0">
              <a:buNone/>
            </a:pPr>
            <a:r>
              <a:rPr lang="en-US" dirty="0"/>
              <a:t>🔹 Order by Date:</a:t>
            </a:r>
          </a:p>
          <a:p>
            <a:pPr marL="114300" indent="0" rtl="0">
              <a:buNone/>
            </a:pPr>
            <a:endParaRPr lang="en-US" dirty="0"/>
          </a:p>
          <a:p>
            <a:pPr marL="114300" indent="0" rtl="0">
              <a:buNone/>
            </a:pPr>
            <a:endParaRPr lang="en-US" dirty="0"/>
          </a:p>
          <a:p>
            <a:pPr marL="114300" indent="0" rtl="0">
              <a:buNone/>
            </a:pPr>
            <a:endParaRPr lang="en-US" dirty="0"/>
          </a:p>
          <a:p>
            <a:pPr marL="114300" indent="0" rtl="0">
              <a:buNone/>
            </a:pPr>
            <a:r>
              <a:rPr lang="en-US" dirty="0"/>
              <a:t>🔹 Group by Doctor:</a:t>
            </a:r>
          </a:p>
          <a:p>
            <a:pPr marL="114300" indent="0" rtl="0">
              <a:buNone/>
            </a:pPr>
            <a:endParaRPr lang="en-US" dirty="0"/>
          </a:p>
          <a:p>
            <a:pPr marL="114300" indent="0" rtl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579738-D82D-8F41-6E1E-69D818171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198" y="1565699"/>
            <a:ext cx="4427604" cy="8077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025E69-F2A2-5EEE-69E3-D18EBF3E3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6096" y="2770012"/>
            <a:ext cx="4711807" cy="224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42763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ADECD-DF0D-5C90-D501-28DF4358C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90F6B-040A-5031-F884-BDADAF24E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Querying with Navigation Properties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9EFF04-4F61-E531-6513-68DCC421F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334149"/>
            <a:ext cx="8221855" cy="3096601"/>
          </a:xfrm>
        </p:spPr>
        <p:txBody>
          <a:bodyPr/>
          <a:lstStyle/>
          <a:p>
            <a:pPr marL="114300" indent="0" rtl="0">
              <a:buNone/>
            </a:pPr>
            <a:r>
              <a:rPr lang="en-US" dirty="0"/>
              <a:t>🔹 Get Appointments with Patient Info:</a:t>
            </a:r>
          </a:p>
          <a:p>
            <a:pPr marL="114300" indent="0" rtl="0">
              <a:buNone/>
            </a:pPr>
            <a:endParaRPr lang="en-US" dirty="0"/>
          </a:p>
          <a:p>
            <a:pPr marL="114300" indent="0" rtl="0">
              <a:buNone/>
            </a:pPr>
            <a:endParaRPr lang="en-US" dirty="0"/>
          </a:p>
          <a:p>
            <a:pPr marL="114300" indent="0" rtl="0">
              <a:buNone/>
            </a:pPr>
            <a:endParaRPr lang="en-US" dirty="0"/>
          </a:p>
          <a:p>
            <a:pPr marL="114300" indent="0" rtl="0">
              <a:buNone/>
            </a:pPr>
            <a:r>
              <a:rPr lang="en-US" dirty="0"/>
              <a:t>🔹 Filter by Doctor Name:</a:t>
            </a:r>
          </a:p>
          <a:p>
            <a:pPr marL="114300" indent="0" rtl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BACEEF-3359-B972-1B4E-DF2084817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128" y="1791964"/>
            <a:ext cx="3741744" cy="8458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5AA77A-E7AE-0DA9-8F56-A136E4A66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1128" y="3095672"/>
            <a:ext cx="3673158" cy="101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2190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4F659-3679-4F76-1AE6-42227659F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A241E-5FC6-40C4-80F1-C9F833D74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Count, First, Any, Exists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6AC206-2524-F9DD-3E57-1B1C76FC6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991" y="1395747"/>
            <a:ext cx="4580017" cy="4191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F0B4E60-507E-6906-FD01-7B0AD3131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8096" y="1935425"/>
            <a:ext cx="5387807" cy="12726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4A656BF-83D3-F8E6-5078-400006858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9646" y="3352679"/>
            <a:ext cx="4244708" cy="579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35724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E9899-61DE-57F2-D6DA-1BBDA38B8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10A6E-F88F-8486-ED05-D67923ADD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Best Practices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DFD1A3-AA0F-E1AB-4EAD-78BC8A30B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334149"/>
            <a:ext cx="8221855" cy="3096601"/>
          </a:xfrm>
        </p:spPr>
        <p:txBody>
          <a:bodyPr/>
          <a:lstStyle/>
          <a:p>
            <a:pPr marL="114300" indent="0" rtl="0">
              <a:lnSpc>
                <a:spcPct val="200000"/>
              </a:lnSpc>
              <a:buNone/>
            </a:pPr>
            <a:r>
              <a:rPr lang="en-US" dirty="0"/>
              <a:t>✅ Use </a:t>
            </a:r>
            <a:r>
              <a:rPr lang="en-US" b="1" dirty="0"/>
              <a:t>Select</a:t>
            </a:r>
            <a:r>
              <a:rPr lang="en-US" dirty="0"/>
              <a:t> to limit returned columns</a:t>
            </a:r>
          </a:p>
          <a:p>
            <a:pPr marL="114300" indent="0" rtl="0">
              <a:lnSpc>
                <a:spcPct val="200000"/>
              </a:lnSpc>
              <a:buNone/>
            </a:pPr>
            <a:r>
              <a:rPr lang="en-US" dirty="0"/>
              <a:t>✅ Use </a:t>
            </a:r>
            <a:r>
              <a:rPr lang="en-US" b="1" dirty="0"/>
              <a:t>Include()</a:t>
            </a:r>
            <a:r>
              <a:rPr lang="en-US" dirty="0"/>
              <a:t> for eager loading of related data</a:t>
            </a:r>
          </a:p>
          <a:p>
            <a:pPr marL="114300" indent="0" rtl="0">
              <a:lnSpc>
                <a:spcPct val="200000"/>
              </a:lnSpc>
              <a:buNone/>
            </a:pPr>
            <a:r>
              <a:rPr lang="en-US" dirty="0"/>
              <a:t>✅ Use </a:t>
            </a:r>
            <a:r>
              <a:rPr lang="en-US" b="1" dirty="0" err="1"/>
              <a:t>AsNoTracking</a:t>
            </a:r>
            <a:r>
              <a:rPr lang="en-US" b="1" dirty="0"/>
              <a:t>()</a:t>
            </a:r>
            <a:r>
              <a:rPr lang="en-US" dirty="0"/>
              <a:t> for read-only queries</a:t>
            </a:r>
          </a:p>
          <a:p>
            <a:pPr marL="114300" indent="0" rtl="0">
              <a:lnSpc>
                <a:spcPct val="200000"/>
              </a:lnSpc>
              <a:buNone/>
            </a:pPr>
            <a:r>
              <a:rPr lang="en-US" dirty="0"/>
              <a:t>❌ Avoid loading everything with </a:t>
            </a:r>
            <a:r>
              <a:rPr lang="en-US" b="1" dirty="0"/>
              <a:t>.</a:t>
            </a:r>
            <a:r>
              <a:rPr lang="en-US" b="1" dirty="0" err="1"/>
              <a:t>ToList</a:t>
            </a:r>
            <a:r>
              <a:rPr lang="en-US" b="1" dirty="0"/>
              <a:t>()</a:t>
            </a:r>
            <a:r>
              <a:rPr lang="en-US" dirty="0"/>
              <a:t> too early — use </a:t>
            </a:r>
            <a:r>
              <a:rPr lang="en-US" b="1" dirty="0"/>
              <a:t>.Where()</a:t>
            </a:r>
            <a:r>
              <a:rPr lang="en-US" dirty="0"/>
              <a:t> first</a:t>
            </a:r>
          </a:p>
        </p:txBody>
      </p:sp>
    </p:spTree>
    <p:extLst>
      <p:ext uri="{BB962C8B-B14F-4D97-AF65-F5344CB8AC3E}">
        <p14:creationId xmlns:p14="http://schemas.microsoft.com/office/powerpoint/2010/main" val="278195018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p181"/>
          <p:cNvSpPr txBox="1">
            <a:spLocks noGrp="1"/>
          </p:cNvSpPr>
          <p:nvPr>
            <p:ph type="title"/>
          </p:nvPr>
        </p:nvSpPr>
        <p:spPr>
          <a:xfrm>
            <a:off x="5548225" y="2230950"/>
            <a:ext cx="30621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33333"/>
              <a:buNone/>
            </a:pPr>
            <a:r>
              <a:rPr lang="en-US" sz="4000" b="1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</a:t>
            </a:r>
            <a:r>
              <a:rPr lang="en-US" sz="4000" b="1" dirty="0" err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رًا</a:t>
            </a:r>
            <a:r>
              <a:rPr lang="en-US" sz="4000" b="1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4000" b="1" dirty="0" err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لك</a:t>
            </a:r>
            <a:r>
              <a:rPr lang="en-US" sz="4000" b="1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ــــــم</a:t>
            </a:r>
            <a:endParaRPr sz="4000" b="1" dirty="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497" name="Google Shape;1497;p181"/>
          <p:cNvSpPr txBox="1">
            <a:spLocks noGrp="1"/>
          </p:cNvSpPr>
          <p:nvPr>
            <p:ph type="ctrTitle" idx="4294967295"/>
          </p:nvPr>
        </p:nvSpPr>
        <p:spPr>
          <a:xfrm>
            <a:off x="4166050" y="2870075"/>
            <a:ext cx="4444200" cy="5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990"/>
              <a:buFont typeface="IBM Plex Sans Arabic Medium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sz="2900" b="1" i="0" u="none" strike="noStrike" cap="none" dirty="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12818</TotalTime>
  <Words>2091</Words>
  <Application>Microsoft Office PowerPoint</Application>
  <PresentationFormat>On-screen Show (16:9)</PresentationFormat>
  <Paragraphs>401</Paragraphs>
  <Slides>67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7" baseType="lpstr">
      <vt:lpstr>IBM Plex Sans Arabic SemiBold</vt:lpstr>
      <vt:lpstr>IBM Plex Sans Arabic</vt:lpstr>
      <vt:lpstr>IBM Plex Sans Arabic Medium</vt:lpstr>
      <vt:lpstr>IBM Plex Sans</vt:lpstr>
      <vt:lpstr>Arial</vt:lpstr>
      <vt:lpstr>Segoe UI Light</vt:lpstr>
      <vt:lpstr>Tajawal</vt:lpstr>
      <vt:lpstr>Segoe UI Variable Text Semibold</vt:lpstr>
      <vt:lpstr>Cambria Math</vt:lpstr>
      <vt:lpstr>Simple Light</vt:lpstr>
      <vt:lpstr>دورة تطوير تطبيقات الويب باستخدام ASP.Net</vt:lpstr>
      <vt:lpstr>Unit 1: Entity Framework</vt:lpstr>
      <vt:lpstr>PowerPoint Presentation</vt:lpstr>
      <vt:lpstr>Setting up the Environment</vt:lpstr>
      <vt:lpstr>PowerPoint Presentation</vt:lpstr>
      <vt:lpstr>Intro to ORM  and EF Core</vt:lpstr>
      <vt:lpstr>Learning Objectives</vt:lpstr>
      <vt:lpstr>What is ORM?</vt:lpstr>
      <vt:lpstr>With vs. Without</vt:lpstr>
      <vt:lpstr>Why Use ORM?</vt:lpstr>
      <vt:lpstr>What is Entity Framework Core?</vt:lpstr>
      <vt:lpstr>EF Core Architecture Overview</vt:lpstr>
      <vt:lpstr>ORM in Real Life – Clinic Use Case</vt:lpstr>
      <vt:lpstr>Alternatives to EF Core</vt:lpstr>
      <vt:lpstr>EF Core Approaches</vt:lpstr>
      <vt:lpstr>Learning Objectives</vt:lpstr>
      <vt:lpstr>What Are EF Core Approaches?</vt:lpstr>
      <vt:lpstr>Database First Approach</vt:lpstr>
      <vt:lpstr>Database First Example</vt:lpstr>
      <vt:lpstr>Code First Approach</vt:lpstr>
      <vt:lpstr>Code First Example</vt:lpstr>
      <vt:lpstr>Which One to Choose?</vt:lpstr>
      <vt:lpstr>Modeling with EF Core</vt:lpstr>
      <vt:lpstr>Learning Objectives</vt:lpstr>
      <vt:lpstr>What Are Entity Models?</vt:lpstr>
      <vt:lpstr>What Are Data Annotations?</vt:lpstr>
      <vt:lpstr>What Is the Fluent API?</vt:lpstr>
      <vt:lpstr>More Examples: (Column Type)</vt:lpstr>
      <vt:lpstr>More Examples: (One-to-Many Relationship)</vt:lpstr>
      <vt:lpstr>More Examples: (Ignore Property)</vt:lpstr>
      <vt:lpstr>More Examples: (Set Default Value)</vt:lpstr>
      <vt:lpstr>More Examples: (Composite Key)</vt:lpstr>
      <vt:lpstr>More Examples: (Many-to-Many Relationship)</vt:lpstr>
      <vt:lpstr>More Examples: (Delete Behavior)</vt:lpstr>
      <vt:lpstr>Data Annotations vs Fluent API – Comparison</vt:lpstr>
      <vt:lpstr>Best Practices</vt:lpstr>
      <vt:lpstr>Migrations and Database Creation</vt:lpstr>
      <vt:lpstr>Learning Objectives</vt:lpstr>
      <vt:lpstr>What Are Migrations?</vt:lpstr>
      <vt:lpstr>Migration Workflow</vt:lpstr>
      <vt:lpstr>Creating Your First Migration</vt:lpstr>
      <vt:lpstr>Applying the Migration</vt:lpstr>
      <vt:lpstr>Modifying Your Schema</vt:lpstr>
      <vt:lpstr>Folder Structure</vt:lpstr>
      <vt:lpstr>Removing a Migration</vt:lpstr>
      <vt:lpstr>Removing a Migration</vt:lpstr>
      <vt:lpstr>Seeding Initial Data</vt:lpstr>
      <vt:lpstr>How to Seed Data in EF Core (Code First)</vt:lpstr>
      <vt:lpstr>Best Practices</vt:lpstr>
      <vt:lpstr>CRUD Operations using DbContext</vt:lpstr>
      <vt:lpstr>Learning Objectives</vt:lpstr>
      <vt:lpstr>What is DbContext?</vt:lpstr>
      <vt:lpstr>Create (Add New Record)</vt:lpstr>
      <vt:lpstr>Read (Retrieve Records)</vt:lpstr>
      <vt:lpstr>Update</vt:lpstr>
      <vt:lpstr>Delete</vt:lpstr>
      <vt:lpstr>LINQ Queries with EF Core</vt:lpstr>
      <vt:lpstr>Learning Objectives</vt:lpstr>
      <vt:lpstr>What is LINQ?</vt:lpstr>
      <vt:lpstr>LINQ vs SQL</vt:lpstr>
      <vt:lpstr>Basic LINQ Queries in EF Core</vt:lpstr>
      <vt:lpstr>Selecting Specific Fields</vt:lpstr>
      <vt:lpstr>Sorting and Grouping</vt:lpstr>
      <vt:lpstr>Querying with Navigation Properties</vt:lpstr>
      <vt:lpstr>Count, First, Any, Exists</vt:lpstr>
      <vt:lpstr>Best Practices</vt:lpstr>
      <vt:lpstr>شــــــكــــرًا لكــــــم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LEGION</dc:creator>
  <cp:lastModifiedBy>Omar Abdelkerim</cp:lastModifiedBy>
  <cp:revision>86</cp:revision>
  <dcterms:modified xsi:type="dcterms:W3CDTF">2026-07-05T11:32:42Z</dcterms:modified>
</cp:coreProperties>
</file>